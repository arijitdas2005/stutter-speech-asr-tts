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-1188720"/>
            <a:ext cx="4572000" cy="4572000"/>
          </a:xfrm>
          <a:prstGeom prst="ellipse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9C8AE"/>
                </a:solidFill>
                <a:latin typeface="Aptos"/>
              </a:defRPr>
            </a:pPr>
            <a:r>
              <a:t>SPEECH TECHNOLOGY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4183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Voice to Text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and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7955279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D8E8F1"/>
                </a:solidFill>
                <a:latin typeface="Aptos"/>
              </a:defRPr>
            </a:pPr>
            <a:r>
              <a:t>ASR, CTC, WER and text-to-speech analysis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D8E8F1"/>
                </a:solidFill>
                <a:latin typeface="Aptos"/>
              </a:defRPr>
            </a:pPr>
            <a:r>
              <a:t>of a speech sample with disfluencies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977639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Speech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9884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MP3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42793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5224" y="3977639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416052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449884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Waveform + Mel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42793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76088" y="3977639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416052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ASR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449884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2 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42793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6952" y="3977639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16052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449884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CTC / 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42793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57816" y="3977639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416052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TTS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449884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Synthesized 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49240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36.49-second English sample  |  Wav2Vec2 + Whisper  |  TTS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144768"/>
            <a:ext cx="8229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D8E8F1"/>
                </a:solidFill>
                <a:latin typeface="Aptos"/>
              </a:defRPr>
            </a:pPr>
            <a:r>
              <a:t>Educational demonstration - not a clinical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D8E8F1"/>
                </a:solidFill>
                <a:latin typeface="Aptos"/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The project in one 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A complete speech-to-text-to-speech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02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MP3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9019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16002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78308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12140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Waveform + Mel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9019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76088" y="16002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178308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ASR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12140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2 alternatives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19019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6952" y="16002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178308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212140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CTC / 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9019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57816" y="16002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78308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TTS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56" y="212140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Synthesized audio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461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355848"/>
            <a:ext cx="64008" cy="142646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392424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3849624"/>
            <a:ext cx="226771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Inspect amplitude and frequency structure.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39" y="32461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20439" y="3355848"/>
            <a:ext cx="64008" cy="1426464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21607" y="3392424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1607" y="3849624"/>
            <a:ext cx="226771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Compare CTC-based Wav2Vec2 with Whisper.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2461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355848"/>
            <a:ext cx="64008" cy="142646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3392424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3849624"/>
            <a:ext cx="226771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Compute edit counts and word error rate.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81159" y="32461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81159" y="3355848"/>
            <a:ext cx="64008" cy="1426464"/>
          </a:xfrm>
          <a:prstGeom prst="rect">
            <a:avLst/>
          </a:prstGeom>
          <a:solidFill>
            <a:srgbClr val="E97868"/>
          </a:solidFill>
          <a:ln>
            <a:solidFill>
              <a:srgbClr val="E9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82328" y="3392424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328" y="3849624"/>
            <a:ext cx="226771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Speak the selected transcript back as audio.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303520"/>
            <a:ext cx="10789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Key result: the current run reports 18.52% WER for Wav2Vec2 and 1.23% for Whisper - but the reference is provisional and biased toward Whisper.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Input recording and experiment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What was analyzed - and what the numbers represent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03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27048"/>
            <a:ext cx="64008" cy="115214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Recording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20824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audio/new_stutter.mp3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37.64 seconds | 44,100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27048"/>
            <a:ext cx="64008" cy="1152144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20824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Mono analysis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Wav2Vec2 resampled to 16 kHz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27048"/>
            <a:ext cx="64008" cy="115214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563624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020824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One English speech sample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Educational pipeline demonstration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10241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42B45"/>
                </a:solidFill>
                <a:latin typeface="Aptos"/>
              </a:defRPr>
            </a:pPr>
            <a:r>
              <a:t>How do two popular ASR approaches transcribe the same disfluent speech sample, and how can their word-level differences be measured?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10912"/>
            <a:ext cx="10698480" cy="82296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solidFill>
              <a:srgbClr val="D6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This single-sample exercise cannot diagnose a speaker or generalize model accuracy. WER depends on a verified reference transcript.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1 | Inspect the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Amplitude and pauses over the recording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04 / 15</a:t>
            </a:r>
          </a:p>
        </p:txBody>
      </p:sp>
      <p:pic>
        <p:nvPicPr>
          <p:cNvPr id="8" name="Picture 7" descr="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45410"/>
            <a:ext cx="10698480" cy="3767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6509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Waveform is useful for locating activity and pauses. It does not reveal the words or diagnose a fluency disorder by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2 | Transform audio into log-Mel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Short-time spectral energy represented on a perceptual frequency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05 / 15</a:t>
            </a:r>
          </a:p>
        </p:txBody>
      </p:sp>
      <p:pic>
        <p:nvPicPr>
          <p:cNvPr id="8" name="Picture 7" descr="log_mel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24" y="1298448"/>
            <a:ext cx="861447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3337560" cy="7315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458968"/>
            <a:ext cx="64008" cy="51206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495544"/>
            <a:ext cx="2953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Mel bands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952744"/>
            <a:ext cx="2953512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13449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349240"/>
            <a:ext cx="3337560" cy="7315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5458968"/>
            <a:ext cx="64008" cy="512064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5495544"/>
            <a:ext cx="2953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FFT / 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5952744"/>
            <a:ext cx="2953512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13449"/>
                </a:solidFill>
                <a:latin typeface="Aptos"/>
              </a:defRPr>
            </a:pPr>
            <a:r>
              <a:t>2048 / 512 samples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349240"/>
            <a:ext cx="3337560" cy="7315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5458968"/>
            <a:ext cx="64008" cy="51206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5495544"/>
            <a:ext cx="2953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5952744"/>
            <a:ext cx="2953512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13449"/>
                </a:solidFill>
                <a:latin typeface="Aptos"/>
              </a:defRPr>
            </a:pPr>
            <a:r>
              <a:t>Power converted to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3 | Two ASR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Parallel alternatives; not a single serial recognizer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06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26080"/>
            <a:ext cx="1417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Speech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MP3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5087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19072"/>
            <a:ext cx="26974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Wav2Vec2 encoder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waveform -&gt; character logits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0876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1783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CTC collapse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repeat + blank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84048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050791"/>
            <a:ext cx="26974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Whisper encoder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log-Mel audio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84048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050791"/>
            <a:ext cx="1783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Text decoder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autoregressive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743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E9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944368"/>
            <a:ext cx="1828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Text -&gt; WER -&gt; TTS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286000" y="2084831"/>
            <a:ext cx="868680" cy="978409"/>
          </a:xfrm>
          <a:prstGeom prst="line">
            <a:avLst/>
          </a:prstGeom>
          <a:ln w="25400">
            <a:solidFill>
              <a:srgbClr val="28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3246120"/>
            <a:ext cx="868680" cy="1143000"/>
          </a:xfrm>
          <a:prstGeom prst="line">
            <a:avLst/>
          </a:prstGeom>
          <a:ln w="25400">
            <a:solidFill>
              <a:srgbClr val="28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084831"/>
            <a:ext cx="365760" cy="0"/>
          </a:xfrm>
          <a:prstGeom prst="line">
            <a:avLst/>
          </a:prstGeom>
          <a:ln w="25400">
            <a:solidFill>
              <a:srgbClr val="28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49640" y="2084831"/>
            <a:ext cx="731520" cy="886969"/>
          </a:xfrm>
          <a:prstGeom prst="line">
            <a:avLst/>
          </a:prstGeom>
          <a:ln w="25400">
            <a:solidFill>
              <a:srgbClr val="28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26480" y="4389120"/>
            <a:ext cx="365760" cy="0"/>
          </a:xfrm>
          <a:prstGeom prst="line">
            <a:avLst/>
          </a:prstGeom>
          <a:ln w="25400">
            <a:solidFill>
              <a:srgbClr val="28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549640" y="3429000"/>
            <a:ext cx="731520" cy="960120"/>
          </a:xfrm>
          <a:prstGeom prst="line">
            <a:avLst/>
          </a:prstGeom>
          <a:ln w="25400">
            <a:solidFill>
              <a:srgbClr val="28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8" y="548640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E97868"/>
                </a:solidFill>
                <a:latin typeface="Aptos"/>
              </a:defRPr>
            </a:pPr>
            <a:r>
              <a:t>Important: Whisper is not a CTC model. The Wav2Vec2 branch is the one decoded with CTC.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4 | Wav2Vec2 with CTC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facebook/wav2vec2-base-960h - greedy token decoding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07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27048"/>
            <a:ext cx="64008" cy="110642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29077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0824"/>
            <a:ext cx="2907792" cy="6126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Mono waveform resampled to 16 kHz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27048"/>
            <a:ext cx="64008" cy="1106424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563624"/>
            <a:ext cx="29077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Acoustic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20824"/>
            <a:ext cx="2907792" cy="6126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Convolutional features + Transformer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27048"/>
            <a:ext cx="64008" cy="110642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563624"/>
            <a:ext cx="29077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Decoder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020824"/>
            <a:ext cx="2907792" cy="6126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Frame-wise argmax + CTC batch decode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10698480" cy="192024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10128"/>
            <a:ext cx="64008" cy="170078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346704"/>
            <a:ext cx="103144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Transcript excerpt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803904"/>
            <a:ext cx="10314432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YE THANK YOU FOR GIVING ME THIS OPERA OPPORTUNITY I  WANT TO TALK ABOUT MY DAILY LIFE AND THE CACHALLENGES I FACE WHILE SIP SPEAKING SOMETIMES I KNOW WHAT I WANT TO TSAY BUT THE WORDS GETS DISTUCK AND I CAN'T CONTINUE EASILY IT'S FAR FROM STRATING WHEN I TRY TO EX EXPLAIN SOMETHING BUT I KEEP SHE TRYING TO GET THE WORDS OUT I I TAKE A DEE...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6984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57789"/>
                </a:solidFill>
                <a:latin typeface="Aptos"/>
              </a:defRPr>
            </a:pPr>
            <a:r>
              <a:t>Observed transcription contains substitutions and extra tokens; confirm errors against audio rather than assuming the reference is correct.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5 | CTC: align without frame-level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Collapse adjacent repeats first, then remove blank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08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508760"/>
            <a:ext cx="22860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42B45"/>
                </a:solidFill>
                <a:latin typeface="Aptos"/>
              </a:defRPr>
            </a:pPr>
            <a:r>
              <a:t>Frame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27048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13449"/>
                </a:solidFill>
                <a:latin typeface="Consolas"/>
              </a:defRPr>
            </a:pPr>
            <a:r>
              <a:t>blank | A | A | blank | A | B | B | blank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37744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468880"/>
            <a:ext cx="22860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42B45"/>
                </a:solidFill>
                <a:latin typeface="Aptos"/>
              </a:defRPr>
            </a:pPr>
            <a:r>
              <a:t>Merge adjacent repeats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87168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13449"/>
                </a:solidFill>
                <a:latin typeface="Consolas"/>
              </a:defRPr>
            </a:pPr>
            <a:r>
              <a:t>blank | A | blank | A | B | blank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3756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429000"/>
            <a:ext cx="22860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42B45"/>
                </a:solidFill>
                <a:latin typeface="Aptos"/>
              </a:defRPr>
            </a:pPr>
            <a:r>
              <a:t>Remove blanks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47288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13449"/>
                </a:solidFill>
                <a:latin typeface="Consolas"/>
              </a:defRPr>
            </a:pPr>
            <a:r>
              <a:t>A | A |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976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E9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389120"/>
            <a:ext cx="22860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42B45"/>
                </a:solidFill>
                <a:latin typeface="Aptos"/>
              </a:defRPr>
            </a:pPr>
            <a:r>
              <a:t>Decoded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407408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13449"/>
                </a:solidFill>
                <a:latin typeface="Consolas"/>
              </a:defRPr>
            </a:pPr>
            <a:r>
              <a:t>AAB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424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A, blank, A -&gt; AA; adjacent A, A -&gt; A. The blank preserves repeated letters when separated.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6 | Whisper-base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Encoder-decoder ASR with autoregressive text token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09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27048"/>
            <a:ext cx="64008" cy="101498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563624"/>
            <a:ext cx="28620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Audio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20824"/>
            <a:ext cx="286207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Whisper extracts log-Mel features internally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527048"/>
            <a:ext cx="64008" cy="1014984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563624"/>
            <a:ext cx="28620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020824"/>
            <a:ext cx="286207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faster-whisper base; CPU int8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527048"/>
            <a:ext cx="64008" cy="101498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563624"/>
            <a:ext cx="28620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Decoding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020824"/>
            <a:ext cx="286207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English hint; beam size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063240"/>
            <a:ext cx="10652760" cy="21031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172968"/>
            <a:ext cx="64008" cy="1883663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09544"/>
            <a:ext cx="10268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Transcript excerpt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666744"/>
            <a:ext cx="10268712" cy="13898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13449"/>
                </a:solidFill>
                <a:latin typeface="Aptos"/>
              </a:defRPr>
            </a:pPr>
            <a:r>
              <a:t>Yeah, thank you for giving me this opportunity. I want to talk about my daily life and the challenges I face while speaking sometimes. I know what I want to say, but the words get stuck and I can't continue easily. It's far frustrating when I try to explain something but I keep trying to get the words out. I take a deep breath, pause for a moment and start again with poor practice and pa...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94960"/>
            <a:ext cx="104241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57789"/>
                </a:solidFill>
                <a:latin typeface="Aptos"/>
              </a:defRPr>
            </a:pPr>
            <a:r>
              <a:t>Fluent wording is not proof of verbatim transcription. The recognizer may normalize or omit disfluencies.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7 | Evaluation with word error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Word-level edit distance relative to a reference transcript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561320" cy="96012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618488"/>
            <a:ext cx="9875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42B45"/>
                </a:solidFill>
                <a:latin typeface="Aptos"/>
              </a:defRPr>
            </a:pPr>
            <a:r>
              <a:t>WER = (Substitutions + Deletions + Insertions) / Reference 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081528"/>
            <a:ext cx="64008" cy="96926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118104"/>
            <a:ext cx="20848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575304"/>
            <a:ext cx="20848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81 words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297180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3081528"/>
            <a:ext cx="64008" cy="969264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7" y="3118104"/>
            <a:ext cx="20848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7" y="3575304"/>
            <a:ext cx="20848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case / punctuation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97180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3081528"/>
            <a:ext cx="64008" cy="96926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118104"/>
            <a:ext cx="20848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Align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575304"/>
            <a:ext cx="20848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JiWER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297180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3081528"/>
            <a:ext cx="64008" cy="969264"/>
          </a:xfrm>
          <a:prstGeom prst="rect">
            <a:avLst/>
          </a:prstGeom>
          <a:solidFill>
            <a:srgbClr val="E97868"/>
          </a:solidFill>
          <a:ln>
            <a:solidFill>
              <a:srgbClr val="E9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3118104"/>
            <a:ext cx="20848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3575304"/>
            <a:ext cx="20848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S, D, 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09160"/>
            <a:ext cx="10561320" cy="8686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solidFill>
              <a:srgbClr val="D6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10149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13449"/>
                </a:solidFill>
                <a:latin typeface="Aptos"/>
              </a:defRPr>
            </a:pPr>
            <a:r>
              <a:t>WER is meaningful only if the reference is independently verified and transcription conventions are consistent.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8 | Results on the current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One sample; current reference transcript is provisional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11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487168"/>
            <a:ext cx="0" cy="1536192"/>
          </a:xfrm>
          <a:prstGeom prst="line">
            <a:avLst/>
          </a:prstGeom>
          <a:ln>
            <a:solidFill>
              <a:srgbClr val="D9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3080" y="404164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21024" y="2487168"/>
            <a:ext cx="0" cy="1536192"/>
          </a:xfrm>
          <a:prstGeom prst="line">
            <a:avLst/>
          </a:prstGeom>
          <a:ln>
            <a:solidFill>
              <a:srgbClr val="D9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83864" y="404164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21808" y="2487168"/>
            <a:ext cx="0" cy="1536192"/>
          </a:xfrm>
          <a:prstGeom prst="line">
            <a:avLst/>
          </a:prstGeom>
          <a:ln>
            <a:solidFill>
              <a:srgbClr val="D9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84648" y="404164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40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22592" y="2487168"/>
            <a:ext cx="0" cy="1536192"/>
          </a:xfrm>
          <a:prstGeom prst="line">
            <a:avLst/>
          </a:prstGeom>
          <a:ln>
            <a:solidFill>
              <a:srgbClr val="D9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85431" y="404164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60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23376" y="2487168"/>
            <a:ext cx="0" cy="1536192"/>
          </a:xfrm>
          <a:prstGeom prst="line">
            <a:avLst/>
          </a:prstGeom>
          <a:ln>
            <a:solidFill>
              <a:srgbClr val="D9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86216" y="404164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80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24160" y="2487168"/>
            <a:ext cx="0" cy="1536192"/>
          </a:xfrm>
          <a:prstGeom prst="line">
            <a:avLst/>
          </a:prstGeom>
          <a:ln>
            <a:solidFill>
              <a:srgbClr val="D9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87000" y="404164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697479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13449"/>
                </a:solidFill>
                <a:latin typeface="Aptos"/>
              </a:defRPr>
            </a:pPr>
            <a:r>
              <a:t>Wav2Vec2 CTC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2679191"/>
            <a:ext cx="1574800" cy="365760"/>
          </a:xfrm>
          <a:prstGeom prst="roundRect">
            <a:avLst>
              <a:gd name="adj" fmla="val 8000"/>
            </a:avLst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4768" y="2724911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42B45"/>
                </a:solidFill>
                <a:latin typeface="Aptos"/>
              </a:defRPr>
            </a:pPr>
            <a:r>
              <a:t>18.52%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5584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13449"/>
                </a:solidFill>
                <a:latin typeface="Aptos"/>
              </a:defRPr>
            </a:pPr>
            <a:r>
              <a:t>Whisper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3337560"/>
            <a:ext cx="104986" cy="365760"/>
          </a:xfrm>
          <a:prstGeom prst="roundRect">
            <a:avLst>
              <a:gd name="adj" fmla="val 8000"/>
            </a:avLst>
          </a:prstGeom>
          <a:solidFill>
            <a:srgbClr val="E97868"/>
          </a:solidFill>
          <a:ln>
            <a:solidFill>
              <a:srgbClr val="E9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4954" y="3383279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42B45"/>
                </a:solidFill>
                <a:latin typeface="Aptos"/>
              </a:defRPr>
            </a:pPr>
            <a:r>
              <a:t>1.23%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297679"/>
            <a:ext cx="8503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WER (%) - lower is better only when the reference is trustworthy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4709160"/>
          <a:ext cx="1069847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4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36576" marT="36576" marB="27432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Hits</a:t>
                      </a:r>
                    </a:p>
                  </a:txBody>
                  <a:tcPr marL="54864" marR="36576" marT="36576" marB="27432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</a:t>
                      </a:r>
                    </a:p>
                  </a:txBody>
                  <a:tcPr marL="54864" marR="36576" marT="36576" marB="27432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</a:t>
                      </a:r>
                    </a:p>
                  </a:txBody>
                  <a:tcPr marL="54864" marR="36576" marT="36576" marB="27432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Ins</a:t>
                      </a:r>
                    </a:p>
                  </a:txBody>
                  <a:tcPr marL="54864" marR="36576" marT="36576" marB="27432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Words</a:t>
                      </a:r>
                    </a:p>
                  </a:txBody>
                  <a:tcPr marL="54864" marR="36576" marT="36576" marB="27432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WER</a:t>
                      </a:r>
                    </a:p>
                  </a:txBody>
                  <a:tcPr marL="54864" marR="36576" marT="36576" marB="27432">
                    <a:solidFill>
                      <a:srgbClr val="142B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Wav2Vec2 CTC</a:t>
                      </a:r>
                    </a:p>
                  </a:txBody>
                  <a:tcPr marL="54864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74</a:t>
                      </a:r>
                    </a:p>
                  </a:txBody>
                  <a:tcPr marL="54864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81</a:t>
                      </a:r>
                    </a:p>
                  </a:txBody>
                  <a:tcPr marL="54864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18.52%</a:t>
                      </a:r>
                    </a:p>
                  </a:txBody>
                  <a:tcPr marL="54864" marR="36576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Whisper</a:t>
                      </a:r>
                    </a:p>
                  </a:txBody>
                  <a:tcPr marL="54864" marR="36576" marT="36576" marB="27432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81</a:t>
                      </a:r>
                    </a:p>
                  </a:txBody>
                  <a:tcPr marL="54864" marR="36576" marT="36576" marB="27432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36576" marB="27432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36576" marB="27432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36576" marB="27432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81</a:t>
                      </a:r>
                    </a:p>
                  </a:txBody>
                  <a:tcPr marL="54864" marR="36576" marT="36576" marB="27432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3449"/>
                          </a:solidFill>
                          <a:latin typeface="Aptos"/>
                        </a:defRPr>
                      </a:pPr>
                      <a:r>
                        <a:t>1.23%</a:t>
                      </a:r>
                    </a:p>
                  </a:txBody>
                  <a:tcPr marL="54864" marR="36576" marT="36576" marB="27432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9 | Critical evaluation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The current comparison favors the model that shaped the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12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27048"/>
            <a:ext cx="64008" cy="1197864"/>
          </a:xfrm>
          <a:prstGeom prst="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48280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Current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0824"/>
            <a:ext cx="48280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81 words; not independently verified against the recording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27048"/>
            <a:ext cx="64008" cy="1197864"/>
          </a:xfrm>
          <a:prstGeom prst="rect">
            <a:avLst/>
          </a:prstGeom>
          <a:solidFill>
            <a:srgbClr val="E97868"/>
          </a:solidFill>
          <a:ln>
            <a:solidFill>
              <a:srgbClr val="E9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63624"/>
            <a:ext cx="48280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Whisper 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20824"/>
            <a:ext cx="48280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Closely follows the provisional reference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104241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E97868"/>
                </a:solidFill>
                <a:latin typeface="Aptos"/>
              </a:defRPr>
            </a:pPr>
            <a:r>
              <a:t>Therefore, 1.23% is not a fair accuracy benchmark.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05072"/>
            <a:ext cx="1014984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142B45"/>
                </a:solidFill>
                <a:latin typeface="Aptos"/>
              </a:defRPr>
            </a:pPr>
            <a:r>
              <a:t>Listen to the source audio, prepare a verbatim transcript independently, define a consistent policy for repetitions and fillers, review uncertain spans, then rerun both WER calculations.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57789"/>
                </a:solidFill>
                <a:latin typeface="Aptos"/>
              </a:defRPr>
            </a:pPr>
            <a:r>
              <a:t>These results describe one example only; do not infer general model superiority.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10 | Text-to-speech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Convert a recognized transcript back into an audio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Whisper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5856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recognized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203911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92024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TTS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25856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Windows SAPI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03911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76088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192024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WAV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25856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PCM audio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203911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6952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192024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Listen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225856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03911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57816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920240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B45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56" y="2258568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57789"/>
                </a:solidFill>
                <a:latin typeface="Aptos"/>
              </a:defRPr>
            </a:pPr>
            <a:r>
              <a:t>synthetic 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246120"/>
            <a:ext cx="5029200" cy="150876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3355848"/>
            <a:ext cx="64008" cy="128930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3392424"/>
            <a:ext cx="46451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Generated artifact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3849624"/>
            <a:ext cx="46451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outputs/tts_output.wav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28.7 seconds | 22,050 Hz | mono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246120"/>
            <a:ext cx="5029200" cy="150876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355848"/>
            <a:ext cx="64008" cy="128930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7" y="3392424"/>
            <a:ext cx="46451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3849624"/>
            <a:ext cx="46451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13449"/>
                </a:solidFill>
                <a:latin typeface="Aptos"/>
              </a:defRPr>
            </a:pPr>
            <a:r>
              <a:t>Synthetic speech of the transcript; it does not recreate the original speaker or their disfluencies.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03520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57789"/>
                </a:solidFill>
                <a:latin typeface="Aptos"/>
              </a:defRPr>
            </a:pPr>
            <a:r>
              <a:t>The notebook includes an optional gTTS alternative; it requires an internet connection.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11 | Reproducible run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Repository scripts and generated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389120"/>
          </a:xfrm>
          <a:prstGeom prst="roundRect">
            <a:avLst>
              <a:gd name="adj" fmla="val 8000"/>
            </a:avLst>
          </a:prstGeom>
          <a:solidFill>
            <a:srgbClr val="142B45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D8E8F1"/>
                </a:solidFill>
                <a:latin typeface="Consolas"/>
              </a:defRPr>
            </a:pPr>
            <a:r>
              <a:t>Set-Location "D:\stutter project 191"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39696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D8E8F1"/>
                </a:solidFill>
                <a:latin typeface="Consolas"/>
              </a:defRPr>
            </a:pPr>
            <a:r>
              <a:t>$py = ".\.venv\Scripts\python.exe"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D8E8F1"/>
                </a:solidFill>
                <a:latin typeface="Consolas"/>
              </a:defRPr>
            </a:pPr>
            <a:r>
              <a:t>&amp; $py main.py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63824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D8E8F1"/>
                </a:solidFill>
                <a:latin typeface="Consolas"/>
              </a:defRPr>
            </a:pPr>
            <a:r>
              <a:t>&amp; $py asr.py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75888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D8E8F1"/>
                </a:solidFill>
                <a:latin typeface="Consolas"/>
              </a:defRPr>
            </a:pPr>
            <a:r>
              <a:t>&amp; $py whisper_asr.py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87952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D8E8F1"/>
                </a:solidFill>
                <a:latin typeface="Consolas"/>
              </a:defRPr>
            </a:pPr>
            <a:r>
              <a:t>&amp; $py wer.py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0016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D8E8F1"/>
                </a:solidFill>
                <a:latin typeface="Consolas"/>
              </a:defRPr>
            </a:pPr>
            <a:r>
              <a:t>.\tts.ps1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25880"/>
            <a:ext cx="5074920" cy="128016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35607"/>
            <a:ext cx="64008" cy="106070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472184"/>
            <a:ext cx="46908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929384"/>
            <a:ext cx="4690872" cy="5669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main.py | asr.py | whisper_asr.py | wer.py | tts.ps1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834640"/>
            <a:ext cx="5074920" cy="128016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44368"/>
            <a:ext cx="64008" cy="1060704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980944"/>
            <a:ext cx="46908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438144"/>
            <a:ext cx="4690872" cy="5669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Waveform, log-Mel image, transcripts, WER CSV, synthesized WAV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343400"/>
            <a:ext cx="5074920" cy="128016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453128"/>
            <a:ext cx="64008" cy="106070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489704"/>
            <a:ext cx="46908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946904"/>
            <a:ext cx="4690872" cy="5669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13449"/>
                </a:solidFill>
                <a:latin typeface="Aptos"/>
              </a:defRPr>
            </a:pPr>
            <a:r>
              <a:t>Use same audio and a human-verified reference; record model versions and settings.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B8C5"/>
          </a:solidFill>
          <a:ln>
            <a:solidFill>
              <a:srgbClr val="4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2B45"/>
                </a:solidFill>
                <a:latin typeface="Aptos"/>
              </a:defRPr>
            </a:pPr>
            <a:r>
              <a:t>Takeaways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A useful pipeline demonstration - with evaluation caveats made explicit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28816"/>
            <a:ext cx="11109960" cy="10972"/>
          </a:xfrm>
          <a:prstGeom prst="rect">
            <a:avLst/>
          </a:prstGeom>
          <a:solidFill>
            <a:srgbClr val="D9E4E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0"/>
            <a:ext cx="8961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57789"/>
                </a:solidFill>
                <a:latin typeface="Aptos"/>
              </a:defRPr>
            </a:pPr>
            <a:r>
              <a:t>STUTTER SPEECH ASR + TTS | Educational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789"/>
                </a:solidFill>
                <a:latin typeface="Aptos"/>
              </a:defRPr>
            </a:pPr>
            <a:r>
              <a:t>15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27048"/>
            <a:ext cx="64008" cy="1197864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What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0824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Feature plots, two ASR paths, CTC explanation, WER, and TTS.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27048"/>
            <a:ext cx="64008" cy="1197864"/>
          </a:xfrm>
          <a:prstGeom prst="rect">
            <a:avLst/>
          </a:prstGeom>
          <a:solidFill>
            <a:srgbClr val="E97868"/>
          </a:solidFill>
          <a:ln>
            <a:solidFill>
              <a:srgbClr val="E9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What needs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20824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Reference transcript and the resulting accuracy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27048"/>
            <a:ext cx="64008" cy="1197864"/>
          </a:xfrm>
          <a:prstGeom prst="rect">
            <a:avLst/>
          </a:prstGeom>
          <a:solidFill>
            <a:srgbClr val="79C8AE"/>
          </a:solidFill>
          <a:ln>
            <a:solidFill>
              <a:srgbClr val="79C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2B45"/>
                </a:solidFill>
                <a:latin typeface="Aptos"/>
              </a:defRPr>
            </a:pPr>
            <a:r>
              <a:t>What comes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020824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13449"/>
                </a:solidFill>
                <a:latin typeface="Aptos"/>
              </a:defRPr>
            </a:pPr>
            <a:r>
              <a:t>Independent transcript review and broader recordings.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10241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878A5"/>
                </a:solidFill>
                <a:latin typeface="Aptos"/>
              </a:defRPr>
            </a:pPr>
            <a:r>
              <a:t>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99669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42B45"/>
                </a:solidFill>
                <a:latin typeface="Aptos"/>
              </a:defRPr>
            </a:pPr>
            <a:r>
              <a:t>A complete speech pipeline is demonstrated. Reliable ASR conclusions require an independent, carefully annotated reference and evaluation beyond one sample.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99669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57789"/>
                </a:solidFill>
                <a:latin typeface="Aptos"/>
              </a:defRPr>
            </a:pPr>
            <a:r>
              <a:t>Selected reading: Graves et al. (2006), CTC; Baevski et al. (2020), wav2vec 2.0; Radford et al. (2023), Whisper.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Voice to Text and Back: ASR, CTC, WER and TTS</dc:title>
  <dc:subject>Professional project presentation</dc:subject>
  <dc:creator>Stutter Speech ASR and TTS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