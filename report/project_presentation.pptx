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81" d="100"/>
          <a:sy n="81" d="100"/>
        </p:scale>
        <p:origin x="725" y="53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2B4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8110728" y="9144"/>
            <a:ext cx="3593592" cy="3858768"/>
          </a:xfrm>
          <a:prstGeom prst="ellipse">
            <a:avLst/>
          </a:prstGeom>
          <a:solidFill>
            <a:srgbClr val="2878A5"/>
          </a:solidFill>
          <a:ln>
            <a:solidFill>
              <a:srgbClr val="2878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8494776" y="306325"/>
            <a:ext cx="2926080" cy="2926080"/>
          </a:xfrm>
          <a:prstGeom prst="ellipse">
            <a:avLst/>
          </a:prstGeom>
          <a:solidFill>
            <a:srgbClr val="48B8C5"/>
          </a:solidFill>
          <a:ln>
            <a:solidFill>
              <a:srgbClr val="48B8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685800"/>
            <a:ext cx="7315200" cy="32004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500"/>
              </a:spcAft>
              <a:defRPr sz="1200" b="1">
                <a:solidFill>
                  <a:srgbClr val="79C8AE"/>
                </a:solidFill>
                <a:latin typeface="Aptos"/>
              </a:defRPr>
            </a:pPr>
            <a:r>
              <a:t>SPEECH TECHNOLOGY PROJECT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1144" y="1069848"/>
            <a:ext cx="9418320" cy="123444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500"/>
              </a:spcAft>
              <a:defRPr sz="3400" b="1">
                <a:solidFill>
                  <a:srgbClr val="FFFFFF"/>
                </a:solidFill>
                <a:latin typeface="Aptos"/>
              </a:defRPr>
            </a:pPr>
            <a:r>
              <a:rPr dirty="0"/>
              <a:t>From Voice to Text</a:t>
            </a:r>
          </a:p>
          <a:p>
            <a:pPr algn="l">
              <a:spcAft>
                <a:spcPts val="500"/>
              </a:spcAft>
              <a:defRPr sz="3400" b="1">
                <a:solidFill>
                  <a:srgbClr val="FFFFFF"/>
                </a:solidFill>
                <a:latin typeface="Aptos"/>
              </a:defRPr>
            </a:pPr>
            <a:r>
              <a:rPr dirty="0"/>
              <a:t>and Back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1144" y="2281429"/>
            <a:ext cx="7955279" cy="1033103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500"/>
              </a:spcAft>
              <a:defRPr sz="1800" b="0">
                <a:solidFill>
                  <a:srgbClr val="D8E8F1"/>
                </a:solidFill>
                <a:latin typeface="Aptos"/>
              </a:defRPr>
            </a:pPr>
            <a:r>
              <a:rPr dirty="0"/>
              <a:t>ASR, CTC, WER and text-to-speech analysis</a:t>
            </a:r>
          </a:p>
          <a:p>
            <a:pPr algn="l">
              <a:spcAft>
                <a:spcPts val="500"/>
              </a:spcAft>
              <a:defRPr sz="1800" b="0">
                <a:solidFill>
                  <a:srgbClr val="D8E8F1"/>
                </a:solidFill>
                <a:latin typeface="Aptos"/>
              </a:defRPr>
            </a:pPr>
            <a:r>
              <a:rPr dirty="0"/>
              <a:t>of a speech sample with disfluencies</a:t>
            </a:r>
            <a:endParaRPr lang="en-IN" dirty="0"/>
          </a:p>
          <a:p>
            <a:pPr algn="l">
              <a:spcAft>
                <a:spcPts val="500"/>
              </a:spcAft>
              <a:defRPr sz="1800" b="0">
                <a:solidFill>
                  <a:srgbClr val="D8E8F1"/>
                </a:solidFill>
                <a:latin typeface="Aptos"/>
              </a:defRPr>
            </a:pPr>
            <a:endParaRPr lang="en-IN" dirty="0"/>
          </a:p>
        </p:txBody>
      </p:sp>
      <p:sp>
        <p:nvSpPr>
          <p:cNvPr id="7" name="Rounded Rectangle 6"/>
          <p:cNvSpPr/>
          <p:nvPr/>
        </p:nvSpPr>
        <p:spPr>
          <a:xfrm>
            <a:off x="411480" y="4594862"/>
            <a:ext cx="2029968" cy="914400"/>
          </a:xfrm>
          <a:prstGeom prst="roundRect">
            <a:avLst>
              <a:gd name="adj" fmla="val 8000"/>
            </a:avLst>
          </a:prstGeom>
          <a:solidFill>
            <a:srgbClr val="EEF5F8"/>
          </a:solidFill>
          <a:ln>
            <a:solidFill>
              <a:srgbClr val="2878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02920" y="4777743"/>
            <a:ext cx="1847088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Aft>
                <a:spcPts val="500"/>
              </a:spcAft>
              <a:defRPr sz="1400" b="1">
                <a:solidFill>
                  <a:srgbClr val="142B45"/>
                </a:solidFill>
                <a:latin typeface="Aptos"/>
              </a:defRPr>
            </a:pPr>
            <a:r>
              <a:t>Speech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5116071"/>
            <a:ext cx="1847088" cy="219456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Aft>
                <a:spcPts val="500"/>
              </a:spcAft>
              <a:defRPr sz="900" b="0">
                <a:solidFill>
                  <a:srgbClr val="657789"/>
                </a:solidFill>
                <a:latin typeface="Aptos"/>
              </a:defRPr>
            </a:pPr>
            <a:r>
              <a:t>MP3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41448" y="4896615"/>
            <a:ext cx="310896" cy="2286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Aft>
                <a:spcPts val="500"/>
              </a:spcAft>
              <a:defRPr sz="1600" b="1">
                <a:solidFill>
                  <a:srgbClr val="2878A5"/>
                </a:solidFill>
                <a:latin typeface="Aptos"/>
              </a:defRPr>
            </a:pPr>
            <a:r>
              <a:t>&gt;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752344" y="4594862"/>
            <a:ext cx="2029968" cy="914400"/>
          </a:xfrm>
          <a:prstGeom prst="roundRect">
            <a:avLst>
              <a:gd name="adj" fmla="val 8000"/>
            </a:avLst>
          </a:prstGeom>
          <a:solidFill>
            <a:srgbClr val="EAF6F2"/>
          </a:solidFill>
          <a:ln>
            <a:solidFill>
              <a:srgbClr val="48B8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843784" y="4777743"/>
            <a:ext cx="1847088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Aft>
                <a:spcPts val="500"/>
              </a:spcAft>
              <a:defRPr sz="1400" b="1">
                <a:solidFill>
                  <a:srgbClr val="142B45"/>
                </a:solidFill>
                <a:latin typeface="Aptos"/>
              </a:defRPr>
            </a:pPr>
            <a:r>
              <a:t>Features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43784" y="5116071"/>
            <a:ext cx="1847088" cy="219456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Aft>
                <a:spcPts val="500"/>
              </a:spcAft>
              <a:defRPr sz="900" b="0">
                <a:solidFill>
                  <a:srgbClr val="657789"/>
                </a:solidFill>
                <a:latin typeface="Aptos"/>
              </a:defRPr>
            </a:pPr>
            <a:r>
              <a:t>Waveform + Mel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82312" y="4896615"/>
            <a:ext cx="310896" cy="2286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Aft>
                <a:spcPts val="500"/>
              </a:spcAft>
              <a:defRPr sz="1600" b="1">
                <a:solidFill>
                  <a:srgbClr val="2878A5"/>
                </a:solidFill>
                <a:latin typeface="Aptos"/>
              </a:defRPr>
            </a:pPr>
            <a:r>
              <a:t>&gt;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93208" y="4594862"/>
            <a:ext cx="2029968" cy="914400"/>
          </a:xfrm>
          <a:prstGeom prst="roundRect">
            <a:avLst>
              <a:gd name="adj" fmla="val 8000"/>
            </a:avLst>
          </a:prstGeom>
          <a:solidFill>
            <a:srgbClr val="EEF5F8"/>
          </a:solidFill>
          <a:ln>
            <a:solidFill>
              <a:srgbClr val="2878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184648" y="4777743"/>
            <a:ext cx="1847088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Aft>
                <a:spcPts val="500"/>
              </a:spcAft>
              <a:defRPr sz="1400" b="1">
                <a:solidFill>
                  <a:srgbClr val="142B45"/>
                </a:solidFill>
                <a:latin typeface="Aptos"/>
              </a:defRPr>
            </a:pPr>
            <a:r>
              <a:t>ASR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84648" y="5116071"/>
            <a:ext cx="1847088" cy="219456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Aft>
                <a:spcPts val="500"/>
              </a:spcAft>
              <a:defRPr sz="900" b="0">
                <a:solidFill>
                  <a:srgbClr val="657789"/>
                </a:solidFill>
                <a:latin typeface="Aptos"/>
              </a:defRPr>
            </a:pPr>
            <a:r>
              <a:t>2 alternatives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23176" y="4896615"/>
            <a:ext cx="310896" cy="2286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Aft>
                <a:spcPts val="500"/>
              </a:spcAft>
              <a:defRPr sz="1600" b="1">
                <a:solidFill>
                  <a:srgbClr val="2878A5"/>
                </a:solidFill>
                <a:latin typeface="Aptos"/>
              </a:defRPr>
            </a:pPr>
            <a:r>
              <a:t>&gt;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434072" y="4594862"/>
            <a:ext cx="2029968" cy="914400"/>
          </a:xfrm>
          <a:prstGeom prst="roundRect">
            <a:avLst>
              <a:gd name="adj" fmla="val 8000"/>
            </a:avLst>
          </a:prstGeom>
          <a:solidFill>
            <a:srgbClr val="EAF6F2"/>
          </a:solidFill>
          <a:ln>
            <a:solidFill>
              <a:srgbClr val="48B8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525512" y="4777743"/>
            <a:ext cx="1847088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Aft>
                <a:spcPts val="500"/>
              </a:spcAft>
              <a:defRPr sz="1400" b="1">
                <a:solidFill>
                  <a:srgbClr val="142B45"/>
                </a:solidFill>
                <a:latin typeface="Aptos"/>
              </a:defRPr>
            </a:pPr>
            <a:r>
              <a:t>Text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525512" y="5116071"/>
            <a:ext cx="1847088" cy="219456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Aft>
                <a:spcPts val="500"/>
              </a:spcAft>
              <a:defRPr sz="900" b="0">
                <a:solidFill>
                  <a:srgbClr val="657789"/>
                </a:solidFill>
                <a:latin typeface="Aptos"/>
              </a:defRPr>
            </a:pPr>
            <a:r>
              <a:t>CTC / WER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464040" y="4896615"/>
            <a:ext cx="310896" cy="2286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Aft>
                <a:spcPts val="500"/>
              </a:spcAft>
              <a:defRPr sz="1600" b="1">
                <a:solidFill>
                  <a:srgbClr val="2878A5"/>
                </a:solidFill>
                <a:latin typeface="Aptos"/>
              </a:defRPr>
            </a:pPr>
            <a:r>
              <a:t>&gt;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774936" y="4594862"/>
            <a:ext cx="2029968" cy="914400"/>
          </a:xfrm>
          <a:prstGeom prst="roundRect">
            <a:avLst>
              <a:gd name="adj" fmla="val 8000"/>
            </a:avLst>
          </a:prstGeom>
          <a:solidFill>
            <a:srgbClr val="EEF5F8"/>
          </a:solidFill>
          <a:ln>
            <a:solidFill>
              <a:srgbClr val="2878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9866376" y="4777743"/>
            <a:ext cx="1847088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Aft>
                <a:spcPts val="500"/>
              </a:spcAft>
              <a:defRPr sz="1400" b="1">
                <a:solidFill>
                  <a:srgbClr val="142B45"/>
                </a:solidFill>
                <a:latin typeface="Aptos"/>
              </a:defRPr>
            </a:pPr>
            <a:r>
              <a:t>TTS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866376" y="5116071"/>
            <a:ext cx="1847088" cy="219456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Aft>
                <a:spcPts val="500"/>
              </a:spcAft>
              <a:defRPr sz="900" b="0">
                <a:solidFill>
                  <a:srgbClr val="657789"/>
                </a:solidFill>
                <a:latin typeface="Aptos"/>
              </a:defRPr>
            </a:pPr>
            <a:r>
              <a:t>Synthesized audio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5687569"/>
            <a:ext cx="7955279" cy="5029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500"/>
              </a:spcAft>
              <a:defRPr sz="1200" b="0">
                <a:solidFill>
                  <a:srgbClr val="FFFFFF"/>
                </a:solidFill>
                <a:latin typeface="Aptos"/>
              </a:defRPr>
            </a:pPr>
            <a:r>
              <a:t>36.49-second English sample  |  Wav2Vec2 + Whisper  |  TTS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" y="6144768"/>
            <a:ext cx="8229600" cy="2286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500"/>
              </a:spcAft>
              <a:defRPr sz="900" b="0">
                <a:solidFill>
                  <a:srgbClr val="D8E8F1"/>
                </a:solidFill>
                <a:latin typeface="Aptos"/>
              </a:defRPr>
            </a:pPr>
            <a:r>
              <a:t>Educational demonstration - not a clinical assessment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72800" y="6547104"/>
            <a:ext cx="731520" cy="18288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>
              <a:spcAft>
                <a:spcPts val="500"/>
              </a:spcAft>
              <a:defRPr sz="800" b="0">
                <a:solidFill>
                  <a:srgbClr val="D8E8F1"/>
                </a:solidFill>
                <a:latin typeface="Aptos"/>
              </a:defRPr>
            </a:pPr>
            <a:r>
              <a:t>01 / 15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8B8C5"/>
          </a:solidFill>
          <a:ln>
            <a:solidFill>
              <a:srgbClr val="48B8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30352" y="283464"/>
            <a:ext cx="10789920" cy="47548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500"/>
              </a:spcAft>
              <a:defRPr sz="2500" b="1">
                <a:solidFill>
                  <a:srgbClr val="142B45"/>
                </a:solidFill>
                <a:latin typeface="Aptos"/>
              </a:defRPr>
            </a:pPr>
            <a:r>
              <a:t>The project in one minute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57784" y="804672"/>
            <a:ext cx="10972800" cy="32004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500"/>
              </a:spcAft>
              <a:defRPr sz="1100" b="0">
                <a:solidFill>
                  <a:srgbClr val="657789"/>
                </a:solidFill>
                <a:latin typeface="Aptos"/>
              </a:defRPr>
            </a:pPr>
            <a:r>
              <a:t>A complete speech-to-text-to-speech workflow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6528816"/>
            <a:ext cx="11109960" cy="10972"/>
          </a:xfrm>
          <a:prstGeom prst="rect">
            <a:avLst/>
          </a:prstGeom>
          <a:solidFill>
            <a:srgbClr val="D9E4EA"/>
          </a:solidFill>
          <a:ln>
            <a:solidFill>
              <a:srgbClr val="D9E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66928" y="6583680"/>
            <a:ext cx="896112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500"/>
              </a:spcAft>
              <a:defRPr sz="750" b="0">
                <a:solidFill>
                  <a:srgbClr val="657789"/>
                </a:solidFill>
                <a:latin typeface="Aptos"/>
              </a:defRPr>
            </a:pPr>
            <a:r>
              <a:t>STUTTER SPEECH ASR + TTS | Educational demonstration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81360" y="6565392"/>
            <a:ext cx="731520" cy="18288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>
              <a:spcAft>
                <a:spcPts val="500"/>
              </a:spcAft>
              <a:defRPr sz="800" b="0">
                <a:solidFill>
                  <a:srgbClr val="657789"/>
                </a:solidFill>
                <a:latin typeface="Aptos"/>
              </a:defRPr>
            </a:pPr>
            <a:r>
              <a:t>02 / 15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600200"/>
            <a:ext cx="2029968" cy="914400"/>
          </a:xfrm>
          <a:prstGeom prst="roundRect">
            <a:avLst>
              <a:gd name="adj" fmla="val 8000"/>
            </a:avLst>
          </a:prstGeom>
          <a:solidFill>
            <a:srgbClr val="EEF5F8"/>
          </a:solidFill>
          <a:ln>
            <a:solidFill>
              <a:srgbClr val="2878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85800" y="1783080"/>
            <a:ext cx="1847088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Aft>
                <a:spcPts val="500"/>
              </a:spcAft>
              <a:defRPr sz="1400" b="1">
                <a:solidFill>
                  <a:srgbClr val="142B45"/>
                </a:solidFill>
                <a:latin typeface="Aptos"/>
              </a:defRPr>
            </a:pPr>
            <a:r>
              <a:t>Speech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121408"/>
            <a:ext cx="1847088" cy="219456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Aft>
                <a:spcPts val="500"/>
              </a:spcAft>
              <a:defRPr sz="900" b="0">
                <a:solidFill>
                  <a:srgbClr val="657789"/>
                </a:solidFill>
                <a:latin typeface="Aptos"/>
              </a:defRPr>
            </a:pPr>
            <a:r>
              <a:t>MP3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24328" y="1901952"/>
            <a:ext cx="310896" cy="2286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Aft>
                <a:spcPts val="500"/>
              </a:spcAft>
              <a:defRPr sz="1600" b="1">
                <a:solidFill>
                  <a:srgbClr val="2878A5"/>
                </a:solidFill>
                <a:latin typeface="Aptos"/>
              </a:defRPr>
            </a:pPr>
            <a:r>
              <a:t>&gt;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935224" y="1600200"/>
            <a:ext cx="2029968" cy="914400"/>
          </a:xfrm>
          <a:prstGeom prst="roundRect">
            <a:avLst>
              <a:gd name="adj" fmla="val 8000"/>
            </a:avLst>
          </a:prstGeom>
          <a:solidFill>
            <a:srgbClr val="EAF6F2"/>
          </a:solidFill>
          <a:ln>
            <a:solidFill>
              <a:srgbClr val="48B8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026664" y="1783080"/>
            <a:ext cx="1847088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Aft>
                <a:spcPts val="500"/>
              </a:spcAft>
              <a:defRPr sz="1400" b="1">
                <a:solidFill>
                  <a:srgbClr val="142B45"/>
                </a:solidFill>
                <a:latin typeface="Aptos"/>
              </a:defRPr>
            </a:pPr>
            <a:r>
              <a:t>Features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26664" y="2121408"/>
            <a:ext cx="1847088" cy="219456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Aft>
                <a:spcPts val="500"/>
              </a:spcAft>
              <a:defRPr sz="900" b="0">
                <a:solidFill>
                  <a:srgbClr val="657789"/>
                </a:solidFill>
                <a:latin typeface="Aptos"/>
              </a:defRPr>
            </a:pPr>
            <a:r>
              <a:t>Waveform + Mel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65192" y="1901952"/>
            <a:ext cx="310896" cy="2286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Aft>
                <a:spcPts val="500"/>
              </a:spcAft>
              <a:defRPr sz="1600" b="1">
                <a:solidFill>
                  <a:srgbClr val="2878A5"/>
                </a:solidFill>
                <a:latin typeface="Aptos"/>
              </a:defRPr>
            </a:pPr>
            <a:r>
              <a:t>&gt;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276088" y="1600200"/>
            <a:ext cx="2029968" cy="914400"/>
          </a:xfrm>
          <a:prstGeom prst="roundRect">
            <a:avLst>
              <a:gd name="adj" fmla="val 8000"/>
            </a:avLst>
          </a:prstGeom>
          <a:solidFill>
            <a:srgbClr val="EEF5F8"/>
          </a:solidFill>
          <a:ln>
            <a:solidFill>
              <a:srgbClr val="2878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367528" y="1783080"/>
            <a:ext cx="1847088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Aft>
                <a:spcPts val="500"/>
              </a:spcAft>
              <a:defRPr sz="1400" b="1">
                <a:solidFill>
                  <a:srgbClr val="142B45"/>
                </a:solidFill>
                <a:latin typeface="Aptos"/>
              </a:defRPr>
            </a:pPr>
            <a:r>
              <a:t>ASR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67528" y="2121408"/>
            <a:ext cx="1847088" cy="219456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Aft>
                <a:spcPts val="500"/>
              </a:spcAft>
              <a:defRPr sz="900" b="0">
                <a:solidFill>
                  <a:srgbClr val="657789"/>
                </a:solidFill>
                <a:latin typeface="Aptos"/>
              </a:defRPr>
            </a:pPr>
            <a:r>
              <a:t>2 alternatives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06056" y="1901952"/>
            <a:ext cx="310896" cy="2286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Aft>
                <a:spcPts val="500"/>
              </a:spcAft>
              <a:defRPr sz="1600" b="1">
                <a:solidFill>
                  <a:srgbClr val="2878A5"/>
                </a:solidFill>
                <a:latin typeface="Aptos"/>
              </a:defRPr>
            </a:pPr>
            <a:r>
              <a:t>&gt;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616952" y="1600200"/>
            <a:ext cx="2029968" cy="914400"/>
          </a:xfrm>
          <a:prstGeom prst="roundRect">
            <a:avLst>
              <a:gd name="adj" fmla="val 8000"/>
            </a:avLst>
          </a:prstGeom>
          <a:solidFill>
            <a:srgbClr val="EAF6F2"/>
          </a:solidFill>
          <a:ln>
            <a:solidFill>
              <a:srgbClr val="48B8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708392" y="1783080"/>
            <a:ext cx="1847088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Aft>
                <a:spcPts val="500"/>
              </a:spcAft>
              <a:defRPr sz="1400" b="1">
                <a:solidFill>
                  <a:srgbClr val="142B45"/>
                </a:solidFill>
                <a:latin typeface="Aptos"/>
              </a:defRPr>
            </a:pPr>
            <a:r>
              <a:t>Text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08392" y="2121408"/>
            <a:ext cx="1847088" cy="219456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Aft>
                <a:spcPts val="500"/>
              </a:spcAft>
              <a:defRPr sz="900" b="0">
                <a:solidFill>
                  <a:srgbClr val="657789"/>
                </a:solidFill>
                <a:latin typeface="Aptos"/>
              </a:defRPr>
            </a:pPr>
            <a:r>
              <a:t>CTC / WER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46920" y="1901952"/>
            <a:ext cx="310896" cy="2286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Aft>
                <a:spcPts val="500"/>
              </a:spcAft>
              <a:defRPr sz="1600" b="1">
                <a:solidFill>
                  <a:srgbClr val="2878A5"/>
                </a:solidFill>
                <a:latin typeface="Aptos"/>
              </a:defRPr>
            </a:pPr>
            <a:r>
              <a:t>&gt;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957816" y="1600200"/>
            <a:ext cx="2029968" cy="914400"/>
          </a:xfrm>
          <a:prstGeom prst="roundRect">
            <a:avLst>
              <a:gd name="adj" fmla="val 8000"/>
            </a:avLst>
          </a:prstGeom>
          <a:solidFill>
            <a:srgbClr val="EEF5F8"/>
          </a:solidFill>
          <a:ln>
            <a:solidFill>
              <a:srgbClr val="2878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10049256" y="1783080"/>
            <a:ext cx="1847088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Aft>
                <a:spcPts val="500"/>
              </a:spcAft>
              <a:defRPr sz="1400" b="1">
                <a:solidFill>
                  <a:srgbClr val="142B45"/>
                </a:solidFill>
                <a:latin typeface="Aptos"/>
              </a:defRPr>
            </a:pPr>
            <a:r>
              <a:t>TTS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49256" y="2121408"/>
            <a:ext cx="1847088" cy="219456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Aft>
                <a:spcPts val="500"/>
              </a:spcAft>
              <a:defRPr sz="900" b="0">
                <a:solidFill>
                  <a:srgbClr val="657789"/>
                </a:solidFill>
                <a:latin typeface="Aptos"/>
              </a:defRPr>
            </a:pPr>
            <a:r>
              <a:t>Synthesized audio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40080" y="3246120"/>
            <a:ext cx="2651760" cy="1645920"/>
          </a:xfrm>
          <a:prstGeom prst="roundRect">
            <a:avLst>
              <a:gd name="adj" fmla="val 8000"/>
            </a:avLst>
          </a:prstGeom>
          <a:solidFill>
            <a:srgbClr val="EEF5F8"/>
          </a:solidFill>
          <a:ln>
            <a:solidFill>
              <a:srgbClr val="D9E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640080" y="3355848"/>
            <a:ext cx="64008" cy="1426464"/>
          </a:xfrm>
          <a:prstGeom prst="rect">
            <a:avLst/>
          </a:prstGeom>
          <a:solidFill>
            <a:srgbClr val="2878A5"/>
          </a:solidFill>
          <a:ln>
            <a:solidFill>
              <a:srgbClr val="2878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841247" y="3392424"/>
            <a:ext cx="2267712" cy="38404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500"/>
              </a:spcAft>
              <a:defRPr sz="1500" b="1">
                <a:solidFill>
                  <a:srgbClr val="142B45"/>
                </a:solidFill>
                <a:latin typeface="Aptos"/>
              </a:defRPr>
            </a:pPr>
            <a:r>
              <a:t>Analyze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41247" y="3849624"/>
            <a:ext cx="2267712" cy="93268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500"/>
              </a:spcAft>
              <a:defRPr sz="1200" b="0">
                <a:solidFill>
                  <a:srgbClr val="213449"/>
                </a:solidFill>
                <a:latin typeface="Aptos"/>
              </a:defRPr>
            </a:pPr>
            <a:r>
              <a:t>Inspect amplitude and frequency structure.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520439" y="3246120"/>
            <a:ext cx="2651760" cy="1645920"/>
          </a:xfrm>
          <a:prstGeom prst="roundRect">
            <a:avLst>
              <a:gd name="adj" fmla="val 8000"/>
            </a:avLst>
          </a:prstGeom>
          <a:solidFill>
            <a:srgbClr val="EEF5F8"/>
          </a:solidFill>
          <a:ln>
            <a:solidFill>
              <a:srgbClr val="D9E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3520439" y="3355848"/>
            <a:ext cx="64008" cy="1426464"/>
          </a:xfrm>
          <a:prstGeom prst="rect">
            <a:avLst/>
          </a:prstGeom>
          <a:solidFill>
            <a:srgbClr val="48B8C5"/>
          </a:solidFill>
          <a:ln>
            <a:solidFill>
              <a:srgbClr val="48B8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3721607" y="3392424"/>
            <a:ext cx="2267712" cy="38404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500"/>
              </a:spcAft>
              <a:defRPr sz="1500" b="1">
                <a:solidFill>
                  <a:srgbClr val="142B45"/>
                </a:solidFill>
                <a:latin typeface="Aptos"/>
              </a:defRPr>
            </a:pPr>
            <a:r>
              <a:t>Recognize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721607" y="3849624"/>
            <a:ext cx="2267712" cy="93268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500"/>
              </a:spcAft>
              <a:defRPr sz="1200" b="0">
                <a:solidFill>
                  <a:srgbClr val="213449"/>
                </a:solidFill>
                <a:latin typeface="Aptos"/>
              </a:defRPr>
            </a:pPr>
            <a:r>
              <a:t>Compare CTC-based Wav2Vec2 with Whisper.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400800" y="3246120"/>
            <a:ext cx="2651760" cy="1645920"/>
          </a:xfrm>
          <a:prstGeom prst="roundRect">
            <a:avLst>
              <a:gd name="adj" fmla="val 8000"/>
            </a:avLst>
          </a:prstGeom>
          <a:solidFill>
            <a:srgbClr val="EEF5F8"/>
          </a:solidFill>
          <a:ln>
            <a:solidFill>
              <a:srgbClr val="D9E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6400800" y="3355848"/>
            <a:ext cx="64008" cy="1426464"/>
          </a:xfrm>
          <a:prstGeom prst="rect">
            <a:avLst/>
          </a:prstGeom>
          <a:solidFill>
            <a:srgbClr val="79C8AE"/>
          </a:solidFill>
          <a:ln>
            <a:solidFill>
              <a:srgbClr val="79C8A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6601968" y="3392424"/>
            <a:ext cx="2267712" cy="38404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500"/>
              </a:spcAft>
              <a:defRPr sz="1500" b="1">
                <a:solidFill>
                  <a:srgbClr val="142B45"/>
                </a:solidFill>
                <a:latin typeface="Aptos"/>
              </a:defRPr>
            </a:pPr>
            <a:r>
              <a:t>Evaluate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601968" y="3849624"/>
            <a:ext cx="2267712" cy="93268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500"/>
              </a:spcAft>
              <a:defRPr sz="1200" b="0">
                <a:solidFill>
                  <a:srgbClr val="213449"/>
                </a:solidFill>
                <a:latin typeface="Aptos"/>
              </a:defRPr>
            </a:pPr>
            <a:r>
              <a:t>Compute edit counts and word error rate.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281159" y="3246120"/>
            <a:ext cx="2651760" cy="1645920"/>
          </a:xfrm>
          <a:prstGeom prst="roundRect">
            <a:avLst>
              <a:gd name="adj" fmla="val 8000"/>
            </a:avLst>
          </a:prstGeom>
          <a:solidFill>
            <a:srgbClr val="EEF5F8"/>
          </a:solidFill>
          <a:ln>
            <a:solidFill>
              <a:srgbClr val="D9E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9281159" y="3355848"/>
            <a:ext cx="64008" cy="1426464"/>
          </a:xfrm>
          <a:prstGeom prst="rect">
            <a:avLst/>
          </a:prstGeom>
          <a:solidFill>
            <a:srgbClr val="E97868"/>
          </a:solidFill>
          <a:ln>
            <a:solidFill>
              <a:srgbClr val="E978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9482328" y="3392424"/>
            <a:ext cx="2267712" cy="38404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500"/>
              </a:spcAft>
              <a:defRPr sz="1500" b="1">
                <a:solidFill>
                  <a:srgbClr val="142B45"/>
                </a:solidFill>
                <a:latin typeface="Aptos"/>
              </a:defRPr>
            </a:pPr>
            <a:r>
              <a:t>Synthesize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482328" y="3849624"/>
            <a:ext cx="2267712" cy="93268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500"/>
              </a:spcAft>
              <a:defRPr sz="1200" b="0">
                <a:solidFill>
                  <a:srgbClr val="213449"/>
                </a:solidFill>
                <a:latin typeface="Aptos"/>
              </a:defRPr>
            </a:pPr>
            <a:r>
              <a:t>Speak the selected transcript back as audio.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13232" y="5303520"/>
            <a:ext cx="10789920" cy="6858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500"/>
              </a:spcAft>
              <a:defRPr sz="1500" b="1">
                <a:solidFill>
                  <a:srgbClr val="142B45"/>
                </a:solidFill>
                <a:latin typeface="Aptos"/>
              </a:defRPr>
            </a:pPr>
            <a:r>
              <a:t>Key result: the current run reports 18.52% WER for Wav2Vec2 and 1.23% for Whisper - but the reference is provisional and biased toward Whisper.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8B8C5"/>
          </a:solidFill>
          <a:ln>
            <a:solidFill>
              <a:srgbClr val="48B8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30352" y="283464"/>
            <a:ext cx="10789920" cy="47548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500"/>
              </a:spcAft>
              <a:defRPr sz="2500" b="1">
                <a:solidFill>
                  <a:srgbClr val="142B45"/>
                </a:solidFill>
                <a:latin typeface="Aptos"/>
              </a:defRPr>
            </a:pPr>
            <a:r>
              <a:t>Input recording and experiment scope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57784" y="804672"/>
            <a:ext cx="10972800" cy="32004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500"/>
              </a:spcAft>
              <a:defRPr sz="1100" b="0">
                <a:solidFill>
                  <a:srgbClr val="657789"/>
                </a:solidFill>
                <a:latin typeface="Aptos"/>
              </a:defRPr>
            </a:pPr>
            <a:r>
              <a:t>What was analyzed - and what the numbers represent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6528816"/>
            <a:ext cx="11109960" cy="10972"/>
          </a:xfrm>
          <a:prstGeom prst="rect">
            <a:avLst/>
          </a:prstGeom>
          <a:solidFill>
            <a:srgbClr val="D9E4EA"/>
          </a:solidFill>
          <a:ln>
            <a:solidFill>
              <a:srgbClr val="D9E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66928" y="6583680"/>
            <a:ext cx="896112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500"/>
              </a:spcAft>
              <a:defRPr sz="750" b="0">
                <a:solidFill>
                  <a:srgbClr val="657789"/>
                </a:solidFill>
                <a:latin typeface="Aptos"/>
              </a:defRPr>
            </a:pPr>
            <a:r>
              <a:t>STUTTER SPEECH ASR + TTS | Educational demonstration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81360" y="6565392"/>
            <a:ext cx="731520" cy="18288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>
              <a:spcAft>
                <a:spcPts val="500"/>
              </a:spcAft>
              <a:defRPr sz="800" b="0">
                <a:solidFill>
                  <a:srgbClr val="657789"/>
                </a:solidFill>
                <a:latin typeface="Aptos"/>
              </a:defRPr>
            </a:pPr>
            <a:r>
              <a:t>03 / 15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417320"/>
            <a:ext cx="3383280" cy="1371600"/>
          </a:xfrm>
          <a:prstGeom prst="roundRect">
            <a:avLst>
              <a:gd name="adj" fmla="val 8000"/>
            </a:avLst>
          </a:prstGeom>
          <a:solidFill>
            <a:srgbClr val="EEF5F8"/>
          </a:solidFill>
          <a:ln>
            <a:solidFill>
              <a:srgbClr val="D9E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40080" y="1527048"/>
            <a:ext cx="64008" cy="1152144"/>
          </a:xfrm>
          <a:prstGeom prst="rect">
            <a:avLst/>
          </a:prstGeom>
          <a:solidFill>
            <a:srgbClr val="2878A5"/>
          </a:solidFill>
          <a:ln>
            <a:solidFill>
              <a:srgbClr val="2878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41247" y="1563624"/>
            <a:ext cx="2999232" cy="38404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500"/>
              </a:spcAft>
              <a:defRPr sz="1500" b="1">
                <a:solidFill>
                  <a:srgbClr val="142B45"/>
                </a:solidFill>
                <a:latin typeface="Aptos"/>
              </a:defRPr>
            </a:pPr>
            <a:r>
              <a:t>Recording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7" y="2020824"/>
            <a:ext cx="2999232" cy="65836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500"/>
              </a:spcAft>
              <a:defRPr sz="1300" b="0">
                <a:solidFill>
                  <a:srgbClr val="213449"/>
                </a:solidFill>
                <a:latin typeface="Aptos"/>
              </a:defRPr>
            </a:pPr>
            <a:r>
              <a:t>audio/new_stutter.mp3</a:t>
            </a:r>
          </a:p>
          <a:p>
            <a:pPr algn="l">
              <a:spcAft>
                <a:spcPts val="500"/>
              </a:spcAft>
              <a:defRPr sz="1300" b="0">
                <a:solidFill>
                  <a:srgbClr val="213449"/>
                </a:solidFill>
                <a:latin typeface="Aptos"/>
              </a:defRPr>
            </a:pPr>
            <a:r>
              <a:t>37.64 seconds | 44,100 Hz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89120" y="1417320"/>
            <a:ext cx="3383280" cy="1371600"/>
          </a:xfrm>
          <a:prstGeom prst="roundRect">
            <a:avLst>
              <a:gd name="adj" fmla="val 8000"/>
            </a:avLst>
          </a:prstGeom>
          <a:solidFill>
            <a:srgbClr val="EEF5F8"/>
          </a:solidFill>
          <a:ln>
            <a:solidFill>
              <a:srgbClr val="D9E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4389120" y="1527048"/>
            <a:ext cx="64008" cy="1152144"/>
          </a:xfrm>
          <a:prstGeom prst="rect">
            <a:avLst/>
          </a:prstGeom>
          <a:solidFill>
            <a:srgbClr val="48B8C5"/>
          </a:solidFill>
          <a:ln>
            <a:solidFill>
              <a:srgbClr val="48B8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590288" y="1563624"/>
            <a:ext cx="2999232" cy="38404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500"/>
              </a:spcAft>
              <a:defRPr sz="1500" b="1">
                <a:solidFill>
                  <a:srgbClr val="142B45"/>
                </a:solidFill>
                <a:latin typeface="Aptos"/>
              </a:defRPr>
            </a:pPr>
            <a:r>
              <a:t>Processing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90288" y="2020824"/>
            <a:ext cx="2999232" cy="65836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500"/>
              </a:spcAft>
              <a:defRPr sz="1300" b="0">
                <a:solidFill>
                  <a:srgbClr val="213449"/>
                </a:solidFill>
                <a:latin typeface="Aptos"/>
              </a:defRPr>
            </a:pPr>
            <a:r>
              <a:t>Mono analysis</a:t>
            </a:r>
          </a:p>
          <a:p>
            <a:pPr algn="l">
              <a:spcAft>
                <a:spcPts val="500"/>
              </a:spcAft>
              <a:defRPr sz="1300" b="0">
                <a:solidFill>
                  <a:srgbClr val="213449"/>
                </a:solidFill>
                <a:latin typeface="Aptos"/>
              </a:defRPr>
            </a:pPr>
            <a:r>
              <a:t>Wav2Vec2 resampled to 16 kHz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38160" y="1417320"/>
            <a:ext cx="3383280" cy="1371600"/>
          </a:xfrm>
          <a:prstGeom prst="roundRect">
            <a:avLst>
              <a:gd name="adj" fmla="val 8000"/>
            </a:avLst>
          </a:prstGeom>
          <a:solidFill>
            <a:srgbClr val="EEF5F8"/>
          </a:solidFill>
          <a:ln>
            <a:solidFill>
              <a:srgbClr val="D9E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8138160" y="1527048"/>
            <a:ext cx="64008" cy="1152144"/>
          </a:xfrm>
          <a:prstGeom prst="rect">
            <a:avLst/>
          </a:prstGeom>
          <a:solidFill>
            <a:srgbClr val="79C8AE"/>
          </a:solidFill>
          <a:ln>
            <a:solidFill>
              <a:srgbClr val="79C8A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339328" y="1563624"/>
            <a:ext cx="2999232" cy="38404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500"/>
              </a:spcAft>
              <a:defRPr sz="1500" b="1">
                <a:solidFill>
                  <a:srgbClr val="142B45"/>
                </a:solidFill>
                <a:latin typeface="Aptos"/>
              </a:defRPr>
            </a:pPr>
            <a:r>
              <a:t>Scope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39328" y="2020824"/>
            <a:ext cx="2999232" cy="65836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500"/>
              </a:spcAft>
              <a:defRPr sz="1300" b="0">
                <a:solidFill>
                  <a:srgbClr val="213449"/>
                </a:solidFill>
                <a:latin typeface="Aptos"/>
              </a:defRPr>
            </a:pPr>
            <a:r>
              <a:t>One English speech sample</a:t>
            </a:r>
          </a:p>
          <a:p>
            <a:pPr algn="l">
              <a:spcAft>
                <a:spcPts val="500"/>
              </a:spcAft>
              <a:defRPr sz="1300" b="0">
                <a:solidFill>
                  <a:srgbClr val="213449"/>
                </a:solidFill>
                <a:latin typeface="Aptos"/>
              </a:defRPr>
            </a:pPr>
            <a:r>
              <a:t>Educational pipeline demonstration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3337560"/>
            <a:ext cx="10698480" cy="5029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500"/>
              </a:spcAft>
              <a:defRPr sz="1600" b="1">
                <a:solidFill>
                  <a:srgbClr val="2878A5"/>
                </a:solidFill>
                <a:latin typeface="Aptos"/>
              </a:defRPr>
            </a:pPr>
            <a:r>
              <a:t>Research question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3794760"/>
            <a:ext cx="10241280" cy="77724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500"/>
              </a:spcAft>
              <a:defRPr sz="2200" b="1">
                <a:solidFill>
                  <a:srgbClr val="142B45"/>
                </a:solidFill>
                <a:latin typeface="Aptos"/>
              </a:defRPr>
            </a:pPr>
            <a:r>
              <a:t>How do two popular ASR approaches transcribe the same disfluent speech sample, and how can their word-level differences be measured?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1520" y="5010912"/>
            <a:ext cx="10698480" cy="822960"/>
          </a:xfrm>
          <a:prstGeom prst="roundRect">
            <a:avLst>
              <a:gd name="adj" fmla="val 8000"/>
            </a:avLst>
          </a:prstGeom>
          <a:solidFill>
            <a:srgbClr val="FFF4D6"/>
          </a:solidFill>
          <a:ln>
            <a:solidFill>
              <a:srgbClr val="D6A9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914400" y="5166360"/>
            <a:ext cx="10332720" cy="5029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500"/>
              </a:spcAft>
              <a:defRPr sz="1300" b="0">
                <a:solidFill>
                  <a:srgbClr val="213449"/>
                </a:solidFill>
                <a:latin typeface="Aptos"/>
              </a:defRPr>
            </a:pPr>
            <a:r>
              <a:t>This single-sample exercise cannot diagnose a speaker or generalize model accuracy. WER depends on a verified reference transcript.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8B8C5"/>
          </a:solidFill>
          <a:ln>
            <a:solidFill>
              <a:srgbClr val="48B8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30352" y="283464"/>
            <a:ext cx="10789920" cy="47548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500"/>
              </a:spcAft>
              <a:defRPr sz="2500" b="1">
                <a:solidFill>
                  <a:srgbClr val="142B45"/>
                </a:solidFill>
                <a:latin typeface="Aptos"/>
              </a:defRPr>
            </a:pPr>
            <a:r>
              <a:t>1 | Inspect the waveform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57784" y="804672"/>
            <a:ext cx="10972800" cy="32004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500"/>
              </a:spcAft>
              <a:defRPr sz="1100" b="0">
                <a:solidFill>
                  <a:srgbClr val="657789"/>
                </a:solidFill>
                <a:latin typeface="Aptos"/>
              </a:defRPr>
            </a:pPr>
            <a:r>
              <a:t>Amplitude and pauses over the recording timeline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6528816"/>
            <a:ext cx="11109960" cy="10972"/>
          </a:xfrm>
          <a:prstGeom prst="rect">
            <a:avLst/>
          </a:prstGeom>
          <a:solidFill>
            <a:srgbClr val="D9E4EA"/>
          </a:solidFill>
          <a:ln>
            <a:solidFill>
              <a:srgbClr val="D9E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66928" y="6583680"/>
            <a:ext cx="896112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500"/>
              </a:spcAft>
              <a:defRPr sz="750" b="0">
                <a:solidFill>
                  <a:srgbClr val="657789"/>
                </a:solidFill>
                <a:latin typeface="Aptos"/>
              </a:defRPr>
            </a:pPr>
            <a:r>
              <a:t>STUTTER SPEECH ASR + TTS | Educational demonstration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81360" y="6565392"/>
            <a:ext cx="731520" cy="18288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>
              <a:spcAft>
                <a:spcPts val="500"/>
              </a:spcAft>
              <a:defRPr sz="800" b="0">
                <a:solidFill>
                  <a:srgbClr val="657789"/>
                </a:solidFill>
                <a:latin typeface="Aptos"/>
              </a:defRPr>
            </a:pPr>
            <a:r>
              <a:t>04 / 15</a:t>
            </a:r>
          </a:p>
        </p:txBody>
      </p:sp>
      <p:pic>
        <p:nvPicPr>
          <p:cNvPr id="8" name="Picture 7" descr="wavefor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" y="1545410"/>
            <a:ext cx="10698480" cy="376717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22960" y="5650992"/>
            <a:ext cx="10607040" cy="5029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500"/>
              </a:spcAft>
              <a:defRPr sz="1300" b="0">
                <a:solidFill>
                  <a:srgbClr val="213449"/>
                </a:solidFill>
                <a:latin typeface="Aptos"/>
              </a:defRPr>
            </a:pPr>
            <a:r>
              <a:t>Waveform is useful for locating activity and pauses. It does not reveal the words or diagnose a fluency disorder by itself.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8B8C5"/>
          </a:solidFill>
          <a:ln>
            <a:solidFill>
              <a:srgbClr val="48B8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30352" y="283464"/>
            <a:ext cx="10789920" cy="47548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500"/>
              </a:spcAft>
              <a:defRPr sz="2500" b="1">
                <a:solidFill>
                  <a:srgbClr val="142B45"/>
                </a:solidFill>
                <a:latin typeface="Aptos"/>
              </a:defRPr>
            </a:pPr>
            <a:r>
              <a:t>2 | Transform audio into log-Mel features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57784" y="804672"/>
            <a:ext cx="10972800" cy="32004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500"/>
              </a:spcAft>
              <a:defRPr sz="1100" b="0">
                <a:solidFill>
                  <a:srgbClr val="657789"/>
                </a:solidFill>
                <a:latin typeface="Aptos"/>
              </a:defRPr>
            </a:pPr>
            <a:r>
              <a:t>Short-time spectral energy represented on a perceptual frequency scale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6528816"/>
            <a:ext cx="11109960" cy="10972"/>
          </a:xfrm>
          <a:prstGeom prst="rect">
            <a:avLst/>
          </a:prstGeom>
          <a:solidFill>
            <a:srgbClr val="D9E4EA"/>
          </a:solidFill>
          <a:ln>
            <a:solidFill>
              <a:srgbClr val="D9E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66928" y="6583680"/>
            <a:ext cx="896112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500"/>
              </a:spcAft>
              <a:defRPr sz="750" b="0">
                <a:solidFill>
                  <a:srgbClr val="657789"/>
                </a:solidFill>
                <a:latin typeface="Aptos"/>
              </a:defRPr>
            </a:pPr>
            <a:r>
              <a:t>STUTTER SPEECH ASR + TTS | Educational demonstration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81360" y="6565392"/>
            <a:ext cx="731520" cy="18288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>
              <a:spcAft>
                <a:spcPts val="500"/>
              </a:spcAft>
              <a:defRPr sz="800" b="0">
                <a:solidFill>
                  <a:srgbClr val="657789"/>
                </a:solidFill>
                <a:latin typeface="Aptos"/>
              </a:defRPr>
            </a:pPr>
            <a:r>
              <a:t>05 / 15</a:t>
            </a:r>
          </a:p>
        </p:txBody>
      </p:sp>
      <p:pic>
        <p:nvPicPr>
          <p:cNvPr id="8" name="Picture 7" descr="log_mel_spectro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73524" y="1298448"/>
            <a:ext cx="8614470" cy="3977639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822960" y="5349240"/>
            <a:ext cx="3337560" cy="731520"/>
          </a:xfrm>
          <a:prstGeom prst="roundRect">
            <a:avLst>
              <a:gd name="adj" fmla="val 8000"/>
            </a:avLst>
          </a:prstGeom>
          <a:solidFill>
            <a:srgbClr val="EEF5F8"/>
          </a:solidFill>
          <a:ln>
            <a:solidFill>
              <a:srgbClr val="D9E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822960" y="5458968"/>
            <a:ext cx="64008" cy="512064"/>
          </a:xfrm>
          <a:prstGeom prst="rect">
            <a:avLst/>
          </a:prstGeom>
          <a:solidFill>
            <a:srgbClr val="2878A5"/>
          </a:solidFill>
          <a:ln>
            <a:solidFill>
              <a:srgbClr val="2878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24128" y="5495544"/>
            <a:ext cx="2953512" cy="38404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500"/>
              </a:spcAft>
              <a:defRPr sz="1500" b="1">
                <a:solidFill>
                  <a:srgbClr val="142B45"/>
                </a:solidFill>
                <a:latin typeface="Aptos"/>
              </a:defRPr>
            </a:pPr>
            <a:r>
              <a:t>Mel bands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4128" y="5952744"/>
            <a:ext cx="2953512" cy="1828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500"/>
              </a:spcAft>
              <a:defRPr sz="1100" b="0">
                <a:solidFill>
                  <a:srgbClr val="213449"/>
                </a:solidFill>
                <a:latin typeface="Aptos"/>
              </a:defRPr>
            </a:pPr>
            <a:r>
              <a:t>128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34840" y="5349240"/>
            <a:ext cx="3337560" cy="731520"/>
          </a:xfrm>
          <a:prstGeom prst="roundRect">
            <a:avLst>
              <a:gd name="adj" fmla="val 8000"/>
            </a:avLst>
          </a:prstGeom>
          <a:solidFill>
            <a:srgbClr val="EEF5F8"/>
          </a:solidFill>
          <a:ln>
            <a:solidFill>
              <a:srgbClr val="D9E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4434840" y="5458968"/>
            <a:ext cx="64008" cy="512064"/>
          </a:xfrm>
          <a:prstGeom prst="rect">
            <a:avLst/>
          </a:prstGeom>
          <a:solidFill>
            <a:srgbClr val="48B8C5"/>
          </a:solidFill>
          <a:ln>
            <a:solidFill>
              <a:srgbClr val="48B8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636007" y="5495544"/>
            <a:ext cx="2953512" cy="38404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500"/>
              </a:spcAft>
              <a:defRPr sz="1500" b="1">
                <a:solidFill>
                  <a:srgbClr val="142B45"/>
                </a:solidFill>
                <a:latin typeface="Aptos"/>
              </a:defRPr>
            </a:pPr>
            <a:r>
              <a:t>FFT / hop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36007" y="5952744"/>
            <a:ext cx="2953512" cy="1828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500"/>
              </a:spcAft>
              <a:defRPr sz="1100" b="0">
                <a:solidFill>
                  <a:srgbClr val="213449"/>
                </a:solidFill>
                <a:latin typeface="Aptos"/>
              </a:defRPr>
            </a:pPr>
            <a:r>
              <a:t>2048 / 512 samples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46720" y="5349240"/>
            <a:ext cx="3337560" cy="731520"/>
          </a:xfrm>
          <a:prstGeom prst="roundRect">
            <a:avLst>
              <a:gd name="adj" fmla="val 8000"/>
            </a:avLst>
          </a:prstGeom>
          <a:solidFill>
            <a:srgbClr val="EEF5F8"/>
          </a:solidFill>
          <a:ln>
            <a:solidFill>
              <a:srgbClr val="D9E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8046720" y="5458968"/>
            <a:ext cx="64008" cy="512064"/>
          </a:xfrm>
          <a:prstGeom prst="rect">
            <a:avLst/>
          </a:prstGeom>
          <a:solidFill>
            <a:srgbClr val="79C8AE"/>
          </a:solidFill>
          <a:ln>
            <a:solidFill>
              <a:srgbClr val="79C8A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247888" y="5495544"/>
            <a:ext cx="2953512" cy="38404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500"/>
              </a:spcAft>
              <a:defRPr sz="1500" b="1">
                <a:solidFill>
                  <a:srgbClr val="142B45"/>
                </a:solidFill>
                <a:latin typeface="Aptos"/>
              </a:defRPr>
            </a:pPr>
            <a:r>
              <a:t>Scale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7888" y="5952744"/>
            <a:ext cx="2953512" cy="1828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500"/>
              </a:spcAft>
              <a:defRPr sz="1100" b="0">
                <a:solidFill>
                  <a:srgbClr val="213449"/>
                </a:solidFill>
                <a:latin typeface="Aptos"/>
              </a:defRPr>
            </a:pPr>
            <a:r>
              <a:t>Power converted to dB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8B8C5"/>
          </a:solidFill>
          <a:ln>
            <a:solidFill>
              <a:srgbClr val="48B8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30352" y="283464"/>
            <a:ext cx="10789920" cy="47548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500"/>
              </a:spcAft>
              <a:defRPr sz="2500" b="1">
                <a:solidFill>
                  <a:srgbClr val="142B45"/>
                </a:solidFill>
                <a:latin typeface="Aptos"/>
              </a:defRPr>
            </a:pPr>
            <a:r>
              <a:t>3 | Two ASR architectures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57784" y="804672"/>
            <a:ext cx="10972800" cy="32004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500"/>
              </a:spcAft>
              <a:defRPr sz="1100" b="0">
                <a:solidFill>
                  <a:srgbClr val="657789"/>
                </a:solidFill>
                <a:latin typeface="Aptos"/>
              </a:defRPr>
            </a:pPr>
            <a:r>
              <a:t>Parallel alternatives; not a single serial recognizer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6528816"/>
            <a:ext cx="11109960" cy="10972"/>
          </a:xfrm>
          <a:prstGeom prst="rect">
            <a:avLst/>
          </a:prstGeom>
          <a:solidFill>
            <a:srgbClr val="D9E4EA"/>
          </a:solidFill>
          <a:ln>
            <a:solidFill>
              <a:srgbClr val="D9E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66928" y="6583680"/>
            <a:ext cx="896112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500"/>
              </a:spcAft>
              <a:defRPr sz="750" b="0">
                <a:solidFill>
                  <a:srgbClr val="657789"/>
                </a:solidFill>
                <a:latin typeface="Aptos"/>
              </a:defRPr>
            </a:pPr>
            <a:r>
              <a:t>STUTTER SPEECH ASR + TTS | Educational demonstration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81360" y="6565392"/>
            <a:ext cx="731520" cy="18288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>
              <a:spcAft>
                <a:spcPts val="500"/>
              </a:spcAft>
              <a:defRPr sz="800" b="0">
                <a:solidFill>
                  <a:srgbClr val="657789"/>
                </a:solidFill>
                <a:latin typeface="Aptos"/>
              </a:defRPr>
            </a:pPr>
            <a:r>
              <a:t>06 / 15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743200"/>
            <a:ext cx="1645920" cy="914400"/>
          </a:xfrm>
          <a:prstGeom prst="roundRect">
            <a:avLst>
              <a:gd name="adj" fmla="val 8000"/>
            </a:avLst>
          </a:prstGeom>
          <a:solidFill>
            <a:srgbClr val="EEF5F8"/>
          </a:solidFill>
          <a:ln>
            <a:solidFill>
              <a:srgbClr val="2878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49808" y="2926080"/>
            <a:ext cx="1417320" cy="5029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Aft>
                <a:spcPts val="500"/>
              </a:spcAft>
              <a:defRPr sz="1400" b="1">
                <a:solidFill>
                  <a:srgbClr val="142B45"/>
                </a:solidFill>
                <a:latin typeface="Aptos"/>
              </a:defRPr>
            </a:pPr>
            <a:r>
              <a:t>Speech</a:t>
            </a:r>
          </a:p>
          <a:p>
            <a:pPr algn="ctr">
              <a:spcAft>
                <a:spcPts val="500"/>
              </a:spcAft>
              <a:defRPr sz="1400" b="1">
                <a:solidFill>
                  <a:srgbClr val="142B45"/>
                </a:solidFill>
                <a:latin typeface="Aptos"/>
              </a:defRPr>
            </a:pPr>
            <a:r>
              <a:t>MP3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154680" y="1508760"/>
            <a:ext cx="2971800" cy="1143000"/>
          </a:xfrm>
          <a:prstGeom prst="roundRect">
            <a:avLst>
              <a:gd name="adj" fmla="val 8000"/>
            </a:avLst>
          </a:prstGeom>
          <a:solidFill>
            <a:srgbClr val="EAF6F2"/>
          </a:solidFill>
          <a:ln>
            <a:solidFill>
              <a:srgbClr val="48B8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291840" y="1719072"/>
            <a:ext cx="2697480" cy="6858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Aft>
                <a:spcPts val="500"/>
              </a:spcAft>
              <a:defRPr sz="1500" b="1">
                <a:solidFill>
                  <a:srgbClr val="142B45"/>
                </a:solidFill>
                <a:latin typeface="Aptos"/>
              </a:defRPr>
            </a:pPr>
            <a:r>
              <a:t>Wav2Vec2 encoder</a:t>
            </a:r>
          </a:p>
          <a:p>
            <a:pPr algn="ctr">
              <a:spcAft>
                <a:spcPts val="500"/>
              </a:spcAft>
              <a:defRPr sz="1500" b="1">
                <a:solidFill>
                  <a:srgbClr val="142B45"/>
                </a:solidFill>
                <a:latin typeface="Aptos"/>
              </a:defRPr>
            </a:pPr>
            <a:r>
              <a:t>waveform -&gt; character logits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92240" y="1508760"/>
            <a:ext cx="2057400" cy="1143000"/>
          </a:xfrm>
          <a:prstGeom prst="roundRect">
            <a:avLst>
              <a:gd name="adj" fmla="val 8000"/>
            </a:avLst>
          </a:prstGeom>
          <a:solidFill>
            <a:srgbClr val="FFF4D6"/>
          </a:solidFill>
          <a:ln>
            <a:solidFill>
              <a:srgbClr val="F2B8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629400" y="1719072"/>
            <a:ext cx="1783080" cy="6858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Aft>
                <a:spcPts val="500"/>
              </a:spcAft>
              <a:defRPr sz="1400" b="1">
                <a:solidFill>
                  <a:srgbClr val="142B45"/>
                </a:solidFill>
                <a:latin typeface="Aptos"/>
              </a:defRPr>
            </a:pPr>
            <a:r>
              <a:t>CTC collapse</a:t>
            </a:r>
          </a:p>
          <a:p>
            <a:pPr algn="ctr">
              <a:spcAft>
                <a:spcPts val="500"/>
              </a:spcAft>
              <a:defRPr sz="1400" b="1">
                <a:solidFill>
                  <a:srgbClr val="142B45"/>
                </a:solidFill>
                <a:latin typeface="Aptos"/>
              </a:defRPr>
            </a:pPr>
            <a:r>
              <a:t>repeat + blank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154680" y="3840480"/>
            <a:ext cx="2971800" cy="1143000"/>
          </a:xfrm>
          <a:prstGeom prst="roundRect">
            <a:avLst>
              <a:gd name="adj" fmla="val 8000"/>
            </a:avLst>
          </a:prstGeom>
          <a:solidFill>
            <a:srgbClr val="EEF5F8"/>
          </a:solidFill>
          <a:ln>
            <a:solidFill>
              <a:srgbClr val="2878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291840" y="4050791"/>
            <a:ext cx="2697480" cy="6858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Aft>
                <a:spcPts val="500"/>
              </a:spcAft>
              <a:defRPr sz="1500" b="1">
                <a:solidFill>
                  <a:srgbClr val="142B45"/>
                </a:solidFill>
                <a:latin typeface="Aptos"/>
              </a:defRPr>
            </a:pPr>
            <a:r>
              <a:t>Whisper encoder</a:t>
            </a:r>
          </a:p>
          <a:p>
            <a:pPr algn="ctr">
              <a:spcAft>
                <a:spcPts val="500"/>
              </a:spcAft>
              <a:defRPr sz="1500" b="1">
                <a:solidFill>
                  <a:srgbClr val="142B45"/>
                </a:solidFill>
                <a:latin typeface="Aptos"/>
              </a:defRPr>
            </a:pPr>
            <a:r>
              <a:t>log-Mel audio features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92240" y="3840480"/>
            <a:ext cx="2057400" cy="1143000"/>
          </a:xfrm>
          <a:prstGeom prst="roundRect">
            <a:avLst>
              <a:gd name="adj" fmla="val 8000"/>
            </a:avLst>
          </a:prstGeom>
          <a:solidFill>
            <a:srgbClr val="EAF6F2"/>
          </a:solidFill>
          <a:ln>
            <a:solidFill>
              <a:srgbClr val="79C8A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629400" y="4050791"/>
            <a:ext cx="1783080" cy="6858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Aft>
                <a:spcPts val="500"/>
              </a:spcAft>
              <a:defRPr sz="1400" b="1">
                <a:solidFill>
                  <a:srgbClr val="142B45"/>
                </a:solidFill>
                <a:latin typeface="Aptos"/>
              </a:defRPr>
            </a:pPr>
            <a:r>
              <a:t>Text decoder</a:t>
            </a:r>
          </a:p>
          <a:p>
            <a:pPr algn="ctr">
              <a:spcAft>
                <a:spcPts val="500"/>
              </a:spcAft>
              <a:defRPr sz="1400" b="1">
                <a:solidFill>
                  <a:srgbClr val="142B45"/>
                </a:solidFill>
                <a:latin typeface="Aptos"/>
              </a:defRPr>
            </a:pPr>
            <a:r>
              <a:t>autoregressive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281160" y="2743200"/>
            <a:ext cx="2103120" cy="914400"/>
          </a:xfrm>
          <a:prstGeom prst="roundRect">
            <a:avLst>
              <a:gd name="adj" fmla="val 8000"/>
            </a:avLst>
          </a:prstGeom>
          <a:solidFill>
            <a:srgbClr val="EEF5F8"/>
          </a:solidFill>
          <a:ln>
            <a:solidFill>
              <a:srgbClr val="E978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418320" y="2944368"/>
            <a:ext cx="1828800" cy="5029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Aft>
                <a:spcPts val="500"/>
              </a:spcAft>
              <a:defRPr sz="1400" b="1">
                <a:solidFill>
                  <a:srgbClr val="142B45"/>
                </a:solidFill>
                <a:latin typeface="Aptos"/>
              </a:defRPr>
            </a:pPr>
            <a:r>
              <a:t>Text -&gt; WER -&gt; TTS</a:t>
            </a:r>
          </a:p>
        </p:txBody>
      </p:sp>
      <p:cxnSp>
        <p:nvCxnSpPr>
          <p:cNvPr id="20" name="Connector 19"/>
          <p:cNvCxnSpPr/>
          <p:nvPr/>
        </p:nvCxnSpPr>
        <p:spPr>
          <a:xfrm flipV="1">
            <a:off x="2286000" y="2084831"/>
            <a:ext cx="868680" cy="978409"/>
          </a:xfrm>
          <a:prstGeom prst="line">
            <a:avLst/>
          </a:prstGeom>
          <a:ln w="25400">
            <a:solidFill>
              <a:srgbClr val="2878A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2286000" y="3246120"/>
            <a:ext cx="868680" cy="1143000"/>
          </a:xfrm>
          <a:prstGeom prst="line">
            <a:avLst/>
          </a:prstGeom>
          <a:ln w="25400">
            <a:solidFill>
              <a:srgbClr val="2878A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6126480" y="2084831"/>
            <a:ext cx="365760" cy="0"/>
          </a:xfrm>
          <a:prstGeom prst="line">
            <a:avLst/>
          </a:prstGeom>
          <a:ln w="25400">
            <a:solidFill>
              <a:srgbClr val="2878A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8549640" y="2084831"/>
            <a:ext cx="731520" cy="886969"/>
          </a:xfrm>
          <a:prstGeom prst="line">
            <a:avLst/>
          </a:prstGeom>
          <a:ln w="25400">
            <a:solidFill>
              <a:srgbClr val="2878A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6126480" y="4389120"/>
            <a:ext cx="365760" cy="0"/>
          </a:xfrm>
          <a:prstGeom prst="line">
            <a:avLst/>
          </a:prstGeom>
          <a:ln w="25400">
            <a:solidFill>
              <a:srgbClr val="2878A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 flipV="1">
            <a:off x="8549640" y="3429000"/>
            <a:ext cx="731520" cy="960120"/>
          </a:xfrm>
          <a:prstGeom prst="line">
            <a:avLst/>
          </a:prstGeom>
          <a:ln w="25400">
            <a:solidFill>
              <a:srgbClr val="2878A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749808" y="5486400"/>
            <a:ext cx="10607040" cy="41148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500"/>
              </a:spcAft>
              <a:defRPr sz="1400" b="1">
                <a:solidFill>
                  <a:srgbClr val="E97868"/>
                </a:solidFill>
                <a:latin typeface="Aptos"/>
              </a:defRPr>
            </a:pPr>
            <a:r>
              <a:t>Important: Whisper is not a CTC model. The Wav2Vec2 branch is the one decoded with CTC.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8B8C5"/>
          </a:solidFill>
          <a:ln>
            <a:solidFill>
              <a:srgbClr val="48B8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30352" y="283464"/>
            <a:ext cx="10789920" cy="47548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500"/>
              </a:spcAft>
              <a:defRPr sz="2500" b="1">
                <a:solidFill>
                  <a:srgbClr val="142B45"/>
                </a:solidFill>
                <a:latin typeface="Aptos"/>
              </a:defRPr>
            </a:pPr>
            <a:r>
              <a:t>4 | Wav2Vec2 with CTC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57784" y="804672"/>
            <a:ext cx="10972800" cy="32004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500"/>
              </a:spcAft>
              <a:defRPr sz="1100" b="0">
                <a:solidFill>
                  <a:srgbClr val="657789"/>
                </a:solidFill>
                <a:latin typeface="Aptos"/>
              </a:defRPr>
            </a:pPr>
            <a:r>
              <a:t>facebook/wav2vec2-base-960h - greedy token decoding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6528816"/>
            <a:ext cx="11109960" cy="10972"/>
          </a:xfrm>
          <a:prstGeom prst="rect">
            <a:avLst/>
          </a:prstGeom>
          <a:solidFill>
            <a:srgbClr val="D9E4EA"/>
          </a:solidFill>
          <a:ln>
            <a:solidFill>
              <a:srgbClr val="D9E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66928" y="6583680"/>
            <a:ext cx="896112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500"/>
              </a:spcAft>
              <a:defRPr sz="750" b="0">
                <a:solidFill>
                  <a:srgbClr val="657789"/>
                </a:solidFill>
                <a:latin typeface="Aptos"/>
              </a:defRPr>
            </a:pPr>
            <a:r>
              <a:t>STUTTER SPEECH ASR + TTS | Educational demonstration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81360" y="6565392"/>
            <a:ext cx="731520" cy="18288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>
              <a:spcAft>
                <a:spcPts val="500"/>
              </a:spcAft>
              <a:defRPr sz="800" b="0">
                <a:solidFill>
                  <a:srgbClr val="657789"/>
                </a:solidFill>
                <a:latin typeface="Aptos"/>
              </a:defRPr>
            </a:pPr>
            <a:r>
              <a:t>07 / 15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417320"/>
            <a:ext cx="3291840" cy="1325880"/>
          </a:xfrm>
          <a:prstGeom prst="roundRect">
            <a:avLst>
              <a:gd name="adj" fmla="val 8000"/>
            </a:avLst>
          </a:prstGeom>
          <a:solidFill>
            <a:srgbClr val="EEF5F8"/>
          </a:solidFill>
          <a:ln>
            <a:solidFill>
              <a:srgbClr val="D9E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731520" y="1527048"/>
            <a:ext cx="64008" cy="1106424"/>
          </a:xfrm>
          <a:prstGeom prst="rect">
            <a:avLst/>
          </a:prstGeom>
          <a:solidFill>
            <a:srgbClr val="2878A5"/>
          </a:solidFill>
          <a:ln>
            <a:solidFill>
              <a:srgbClr val="2878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32688" y="1563624"/>
            <a:ext cx="2907792" cy="38404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500"/>
              </a:spcAft>
              <a:defRPr sz="1500" b="1">
                <a:solidFill>
                  <a:srgbClr val="142B45"/>
                </a:solidFill>
                <a:latin typeface="Aptos"/>
              </a:defRPr>
            </a:pPr>
            <a:r>
              <a:t>Input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020824"/>
            <a:ext cx="2907792" cy="612647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500"/>
              </a:spcAft>
              <a:defRPr sz="1400" b="0">
                <a:solidFill>
                  <a:srgbClr val="213449"/>
                </a:solidFill>
                <a:latin typeface="Aptos"/>
              </a:defRPr>
            </a:pPr>
            <a:r>
              <a:t>Mono waveform resampled to 16 kHz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34840" y="1417320"/>
            <a:ext cx="3291840" cy="1325880"/>
          </a:xfrm>
          <a:prstGeom prst="roundRect">
            <a:avLst>
              <a:gd name="adj" fmla="val 8000"/>
            </a:avLst>
          </a:prstGeom>
          <a:solidFill>
            <a:srgbClr val="EEF5F8"/>
          </a:solidFill>
          <a:ln>
            <a:solidFill>
              <a:srgbClr val="D9E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4434840" y="1527048"/>
            <a:ext cx="64008" cy="1106424"/>
          </a:xfrm>
          <a:prstGeom prst="rect">
            <a:avLst/>
          </a:prstGeom>
          <a:solidFill>
            <a:srgbClr val="48B8C5"/>
          </a:solidFill>
          <a:ln>
            <a:solidFill>
              <a:srgbClr val="48B8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636007" y="1563624"/>
            <a:ext cx="2907792" cy="38404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500"/>
              </a:spcAft>
              <a:defRPr sz="1500" b="1">
                <a:solidFill>
                  <a:srgbClr val="142B45"/>
                </a:solidFill>
                <a:latin typeface="Aptos"/>
              </a:defRPr>
            </a:pPr>
            <a:r>
              <a:t>Acoustic model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36007" y="2020824"/>
            <a:ext cx="2907792" cy="612647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500"/>
              </a:spcAft>
              <a:defRPr sz="1400" b="0">
                <a:solidFill>
                  <a:srgbClr val="213449"/>
                </a:solidFill>
                <a:latin typeface="Aptos"/>
              </a:defRPr>
            </a:pPr>
            <a:r>
              <a:t>Convolutional features + Transformer context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38160" y="1417320"/>
            <a:ext cx="3291840" cy="1325880"/>
          </a:xfrm>
          <a:prstGeom prst="roundRect">
            <a:avLst>
              <a:gd name="adj" fmla="val 8000"/>
            </a:avLst>
          </a:prstGeom>
          <a:solidFill>
            <a:srgbClr val="EEF5F8"/>
          </a:solidFill>
          <a:ln>
            <a:solidFill>
              <a:srgbClr val="D9E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8138160" y="1527048"/>
            <a:ext cx="64008" cy="1106424"/>
          </a:xfrm>
          <a:prstGeom prst="rect">
            <a:avLst/>
          </a:prstGeom>
          <a:solidFill>
            <a:srgbClr val="79C8AE"/>
          </a:solidFill>
          <a:ln>
            <a:solidFill>
              <a:srgbClr val="79C8A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339328" y="1563624"/>
            <a:ext cx="2907792" cy="38404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500"/>
              </a:spcAft>
              <a:defRPr sz="1500" b="1">
                <a:solidFill>
                  <a:srgbClr val="142B45"/>
                </a:solidFill>
                <a:latin typeface="Aptos"/>
              </a:defRPr>
            </a:pPr>
            <a:r>
              <a:t>Decoder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39328" y="2020824"/>
            <a:ext cx="2907792" cy="612647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500"/>
              </a:spcAft>
              <a:defRPr sz="1400" b="0">
                <a:solidFill>
                  <a:srgbClr val="213449"/>
                </a:solidFill>
                <a:latin typeface="Aptos"/>
              </a:defRPr>
            </a:pPr>
            <a:r>
              <a:t>Frame-wise argmax + CTC batch decode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1520" y="3200400"/>
            <a:ext cx="10698480" cy="1920240"/>
          </a:xfrm>
          <a:prstGeom prst="roundRect">
            <a:avLst>
              <a:gd name="adj" fmla="val 8000"/>
            </a:avLst>
          </a:prstGeom>
          <a:solidFill>
            <a:srgbClr val="EEF5F8"/>
          </a:solidFill>
          <a:ln>
            <a:solidFill>
              <a:srgbClr val="D9E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731520" y="3310128"/>
            <a:ext cx="64008" cy="1700784"/>
          </a:xfrm>
          <a:prstGeom prst="rect">
            <a:avLst/>
          </a:prstGeom>
          <a:solidFill>
            <a:srgbClr val="2878A5"/>
          </a:solidFill>
          <a:ln>
            <a:solidFill>
              <a:srgbClr val="2878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932688" y="3346704"/>
            <a:ext cx="10314432" cy="38404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500"/>
              </a:spcAft>
              <a:defRPr sz="1500" b="1">
                <a:solidFill>
                  <a:srgbClr val="142B45"/>
                </a:solidFill>
                <a:latin typeface="Aptos"/>
              </a:defRPr>
            </a:pPr>
            <a:r>
              <a:t>Transcript excerpt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2688" y="3803904"/>
            <a:ext cx="10314432" cy="12070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500"/>
              </a:spcAft>
              <a:defRPr sz="1400" b="0">
                <a:solidFill>
                  <a:srgbClr val="213449"/>
                </a:solidFill>
                <a:latin typeface="Aptos"/>
              </a:defRPr>
            </a:pPr>
            <a:r>
              <a:t>YE THANK YOU FOR GIVING ME THIS OPERA OPPORTUNITY I  WANT TO TALK ABOUT MY DAILY LIFE AND THE CACHALLENGES I FACE WHILE SIP SPEAKING SOMETIMES I KNOW WHAT I WANT TO TSAY BUT THE WORDS GETS DISTUCK AND I CAN'T CONTINUE EASILY IT'S FAR FROM STRATING WHEN I TRY TO EX EXPLAIN SOMETHING BUT I KEEP SHE TRYING TO GET THE WORDS OUT I I TAKE A DEE...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5394960"/>
            <a:ext cx="10698480" cy="54864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500"/>
              </a:spcAft>
              <a:defRPr sz="1300" b="0">
                <a:solidFill>
                  <a:srgbClr val="657789"/>
                </a:solidFill>
                <a:latin typeface="Aptos"/>
              </a:defRPr>
            </a:pPr>
            <a:r>
              <a:t>Observed transcription contains substitutions and extra tokens; confirm errors against audio rather than assuming the reference is correct.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8B8C5"/>
          </a:solidFill>
          <a:ln>
            <a:solidFill>
              <a:srgbClr val="48B8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30352" y="283464"/>
            <a:ext cx="10789920" cy="47548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500"/>
              </a:spcAft>
              <a:defRPr sz="2500" b="1">
                <a:solidFill>
                  <a:srgbClr val="142B45"/>
                </a:solidFill>
                <a:latin typeface="Aptos"/>
              </a:defRPr>
            </a:pPr>
            <a:r>
              <a:t>5 | CTC: align without frame-level labels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57784" y="804672"/>
            <a:ext cx="10972800" cy="32004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500"/>
              </a:spcAft>
              <a:defRPr sz="1100" b="0">
                <a:solidFill>
                  <a:srgbClr val="657789"/>
                </a:solidFill>
                <a:latin typeface="Aptos"/>
              </a:defRPr>
            </a:pPr>
            <a:r>
              <a:t>Collapse adjacent repeats first, then remove blank tokens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6528816"/>
            <a:ext cx="11109960" cy="10972"/>
          </a:xfrm>
          <a:prstGeom prst="rect">
            <a:avLst/>
          </a:prstGeom>
          <a:solidFill>
            <a:srgbClr val="D9E4EA"/>
          </a:solidFill>
          <a:ln>
            <a:solidFill>
              <a:srgbClr val="D9E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66928" y="6583680"/>
            <a:ext cx="896112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500"/>
              </a:spcAft>
              <a:defRPr sz="750" b="0">
                <a:solidFill>
                  <a:srgbClr val="657789"/>
                </a:solidFill>
                <a:latin typeface="Aptos"/>
              </a:defRPr>
            </a:pPr>
            <a:r>
              <a:t>STUTTER SPEECH ASR + TTS | Educational demonstration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81360" y="6565392"/>
            <a:ext cx="731520" cy="18288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>
              <a:spcAft>
                <a:spcPts val="500"/>
              </a:spcAft>
              <a:defRPr sz="800" b="0">
                <a:solidFill>
                  <a:srgbClr val="657789"/>
                </a:solidFill>
                <a:latin typeface="Aptos"/>
              </a:defRPr>
            </a:pPr>
            <a:r>
              <a:t>08 / 15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68680" y="1417320"/>
            <a:ext cx="10424160" cy="713232"/>
          </a:xfrm>
          <a:prstGeom prst="roundRect">
            <a:avLst>
              <a:gd name="adj" fmla="val 8000"/>
            </a:avLst>
          </a:prstGeom>
          <a:solidFill>
            <a:srgbClr val="EEF5F8"/>
          </a:solidFill>
          <a:ln>
            <a:solidFill>
              <a:srgbClr val="2878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78992" y="1508760"/>
            <a:ext cx="2286000" cy="47548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500"/>
              </a:spcAft>
              <a:defRPr sz="1300" b="1">
                <a:solidFill>
                  <a:srgbClr val="142B45"/>
                </a:solidFill>
                <a:latin typeface="Aptos"/>
              </a:defRPr>
            </a:pPr>
            <a:r>
              <a:t>Frame predictions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29000" y="1527048"/>
            <a:ext cx="7498079" cy="4572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500"/>
              </a:spcAft>
              <a:defRPr sz="1600" b="0">
                <a:solidFill>
                  <a:srgbClr val="213449"/>
                </a:solidFill>
                <a:latin typeface="Consolas"/>
              </a:defRPr>
            </a:pPr>
            <a:r>
              <a:t>blank | A | A | blank | A | B | B | blank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2377440"/>
            <a:ext cx="10424160" cy="713232"/>
          </a:xfrm>
          <a:prstGeom prst="roundRect">
            <a:avLst>
              <a:gd name="adj" fmla="val 8000"/>
            </a:avLst>
          </a:prstGeom>
          <a:solidFill>
            <a:srgbClr val="EAF6F2"/>
          </a:solidFill>
          <a:ln>
            <a:solidFill>
              <a:srgbClr val="48B8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078992" y="2468880"/>
            <a:ext cx="2286000" cy="47548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500"/>
              </a:spcAft>
              <a:defRPr sz="1300" b="1">
                <a:solidFill>
                  <a:srgbClr val="142B45"/>
                </a:solidFill>
                <a:latin typeface="Aptos"/>
              </a:defRPr>
            </a:pPr>
            <a:r>
              <a:t>Merge adjacent repeats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29000" y="2487168"/>
            <a:ext cx="7498079" cy="4572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500"/>
              </a:spcAft>
              <a:defRPr sz="1600" b="0">
                <a:solidFill>
                  <a:srgbClr val="213449"/>
                </a:solidFill>
                <a:latin typeface="Consolas"/>
              </a:defRPr>
            </a:pPr>
            <a:r>
              <a:t>blank | A | blank | A | B | blank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68680" y="3337560"/>
            <a:ext cx="10424160" cy="713232"/>
          </a:xfrm>
          <a:prstGeom prst="roundRect">
            <a:avLst>
              <a:gd name="adj" fmla="val 8000"/>
            </a:avLst>
          </a:prstGeom>
          <a:solidFill>
            <a:srgbClr val="EEF5F8"/>
          </a:solidFill>
          <a:ln>
            <a:solidFill>
              <a:srgbClr val="79C8A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078992" y="3429000"/>
            <a:ext cx="2286000" cy="47548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500"/>
              </a:spcAft>
              <a:defRPr sz="1300" b="1">
                <a:solidFill>
                  <a:srgbClr val="142B45"/>
                </a:solidFill>
                <a:latin typeface="Aptos"/>
              </a:defRPr>
            </a:pPr>
            <a:r>
              <a:t>Remove blanks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9000" y="3447288"/>
            <a:ext cx="7498079" cy="4572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500"/>
              </a:spcAft>
              <a:defRPr sz="1600" b="0">
                <a:solidFill>
                  <a:srgbClr val="213449"/>
                </a:solidFill>
                <a:latin typeface="Consolas"/>
              </a:defRPr>
            </a:pPr>
            <a:r>
              <a:t>A | A | B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8680" y="4297680"/>
            <a:ext cx="10424160" cy="713232"/>
          </a:xfrm>
          <a:prstGeom prst="roundRect">
            <a:avLst>
              <a:gd name="adj" fmla="val 8000"/>
            </a:avLst>
          </a:prstGeom>
          <a:solidFill>
            <a:srgbClr val="EAF6F2"/>
          </a:solidFill>
          <a:ln>
            <a:solidFill>
              <a:srgbClr val="E978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078992" y="4389120"/>
            <a:ext cx="2286000" cy="47548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500"/>
              </a:spcAft>
              <a:defRPr sz="1300" b="1">
                <a:solidFill>
                  <a:srgbClr val="142B45"/>
                </a:solidFill>
                <a:latin typeface="Aptos"/>
              </a:defRPr>
            </a:pPr>
            <a:r>
              <a:t>Decoded output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29000" y="4407408"/>
            <a:ext cx="7498079" cy="4572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500"/>
              </a:spcAft>
              <a:defRPr sz="1600" b="0">
                <a:solidFill>
                  <a:srgbClr val="213449"/>
                </a:solidFill>
                <a:latin typeface="Consolas"/>
              </a:defRPr>
            </a:pPr>
            <a:r>
              <a:t>AAB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5532120"/>
            <a:ext cx="10424160" cy="420624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500"/>
              </a:spcAft>
              <a:defRPr sz="1400" b="1">
                <a:solidFill>
                  <a:srgbClr val="142B45"/>
                </a:solidFill>
                <a:latin typeface="Aptos"/>
              </a:defRPr>
            </a:pPr>
            <a:r>
              <a:t>A, blank, A -&gt; AA; adjacent A, A -&gt; A. The blank preserves repeated letters when separated.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8B8C5"/>
          </a:solidFill>
          <a:ln>
            <a:solidFill>
              <a:srgbClr val="48B8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30352" y="283464"/>
            <a:ext cx="10789920" cy="47548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500"/>
              </a:spcAft>
              <a:defRPr sz="2500" b="1">
                <a:solidFill>
                  <a:srgbClr val="142B45"/>
                </a:solidFill>
                <a:latin typeface="Aptos"/>
              </a:defRPr>
            </a:pPr>
            <a:r>
              <a:t>6 | Whisper-base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57784" y="804672"/>
            <a:ext cx="10972800" cy="32004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500"/>
              </a:spcAft>
              <a:defRPr sz="1100" b="0">
                <a:solidFill>
                  <a:srgbClr val="657789"/>
                </a:solidFill>
                <a:latin typeface="Aptos"/>
              </a:defRPr>
            </a:pPr>
            <a:r>
              <a:t>Encoder-decoder ASR with autoregressive text token generation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6528816"/>
            <a:ext cx="11109960" cy="10972"/>
          </a:xfrm>
          <a:prstGeom prst="rect">
            <a:avLst/>
          </a:prstGeom>
          <a:solidFill>
            <a:srgbClr val="D9E4EA"/>
          </a:solidFill>
          <a:ln>
            <a:solidFill>
              <a:srgbClr val="D9E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66928" y="6583680"/>
            <a:ext cx="896112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500"/>
              </a:spcAft>
              <a:defRPr sz="750" b="0">
                <a:solidFill>
                  <a:srgbClr val="657789"/>
                </a:solidFill>
                <a:latin typeface="Aptos"/>
              </a:defRPr>
            </a:pPr>
            <a:r>
              <a:t>STUTTER SPEECH ASR + TTS | Educational demonstration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81360" y="6565392"/>
            <a:ext cx="731520" cy="18288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>
              <a:spcAft>
                <a:spcPts val="500"/>
              </a:spcAft>
              <a:defRPr sz="800" b="0">
                <a:solidFill>
                  <a:srgbClr val="657789"/>
                </a:solidFill>
                <a:latin typeface="Aptos"/>
              </a:defRPr>
            </a:pPr>
            <a:r>
              <a:t>09 / 15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1417320"/>
            <a:ext cx="3246120" cy="1234440"/>
          </a:xfrm>
          <a:prstGeom prst="roundRect">
            <a:avLst>
              <a:gd name="adj" fmla="val 8000"/>
            </a:avLst>
          </a:prstGeom>
          <a:solidFill>
            <a:srgbClr val="EEF5F8"/>
          </a:solidFill>
          <a:ln>
            <a:solidFill>
              <a:srgbClr val="D9E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777240" y="1527048"/>
            <a:ext cx="64008" cy="1014984"/>
          </a:xfrm>
          <a:prstGeom prst="rect">
            <a:avLst/>
          </a:prstGeom>
          <a:solidFill>
            <a:srgbClr val="2878A5"/>
          </a:solidFill>
          <a:ln>
            <a:solidFill>
              <a:srgbClr val="2878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78408" y="1563624"/>
            <a:ext cx="2862072" cy="38404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500"/>
              </a:spcAft>
              <a:defRPr sz="1500" b="1">
                <a:solidFill>
                  <a:srgbClr val="142B45"/>
                </a:solidFill>
                <a:latin typeface="Aptos"/>
              </a:defRPr>
            </a:pPr>
            <a:r>
              <a:t>Audio features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" y="2020824"/>
            <a:ext cx="2862072" cy="5212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500"/>
              </a:spcAft>
              <a:defRPr sz="1300" b="0">
                <a:solidFill>
                  <a:srgbClr val="213449"/>
                </a:solidFill>
                <a:latin typeface="Aptos"/>
              </a:defRPr>
            </a:pPr>
            <a:r>
              <a:t>Whisper extracts log-Mel features internally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80560" y="1417320"/>
            <a:ext cx="3246120" cy="1234440"/>
          </a:xfrm>
          <a:prstGeom prst="roundRect">
            <a:avLst>
              <a:gd name="adj" fmla="val 8000"/>
            </a:avLst>
          </a:prstGeom>
          <a:solidFill>
            <a:srgbClr val="EEF5F8"/>
          </a:solidFill>
          <a:ln>
            <a:solidFill>
              <a:srgbClr val="D9E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4480560" y="1527048"/>
            <a:ext cx="64008" cy="1014984"/>
          </a:xfrm>
          <a:prstGeom prst="rect">
            <a:avLst/>
          </a:prstGeom>
          <a:solidFill>
            <a:srgbClr val="48B8C5"/>
          </a:solidFill>
          <a:ln>
            <a:solidFill>
              <a:srgbClr val="48B8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681728" y="1563624"/>
            <a:ext cx="2862072" cy="38404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500"/>
              </a:spcAft>
              <a:defRPr sz="1500" b="1">
                <a:solidFill>
                  <a:srgbClr val="142B45"/>
                </a:solidFill>
                <a:latin typeface="Aptos"/>
              </a:defRPr>
            </a:pPr>
            <a:r>
              <a:t>Model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81728" y="2020824"/>
            <a:ext cx="2862072" cy="5212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500"/>
              </a:spcAft>
              <a:defRPr sz="1300" b="0">
                <a:solidFill>
                  <a:srgbClr val="213449"/>
                </a:solidFill>
                <a:latin typeface="Aptos"/>
              </a:defRPr>
            </a:pPr>
            <a:r>
              <a:t>faster-whisper base; CPU int8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83879" y="1417320"/>
            <a:ext cx="3246120" cy="1234440"/>
          </a:xfrm>
          <a:prstGeom prst="roundRect">
            <a:avLst>
              <a:gd name="adj" fmla="val 8000"/>
            </a:avLst>
          </a:prstGeom>
          <a:solidFill>
            <a:srgbClr val="EEF5F8"/>
          </a:solidFill>
          <a:ln>
            <a:solidFill>
              <a:srgbClr val="D9E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8183879" y="1527048"/>
            <a:ext cx="64008" cy="1014984"/>
          </a:xfrm>
          <a:prstGeom prst="rect">
            <a:avLst/>
          </a:prstGeom>
          <a:solidFill>
            <a:srgbClr val="79C8AE"/>
          </a:solidFill>
          <a:ln>
            <a:solidFill>
              <a:srgbClr val="79C8A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385048" y="1563624"/>
            <a:ext cx="2862072" cy="38404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500"/>
              </a:spcAft>
              <a:defRPr sz="1500" b="1">
                <a:solidFill>
                  <a:srgbClr val="142B45"/>
                </a:solidFill>
                <a:latin typeface="Aptos"/>
              </a:defRPr>
            </a:pPr>
            <a:r>
              <a:t>Decoding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85048" y="2020824"/>
            <a:ext cx="2862072" cy="5212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500"/>
              </a:spcAft>
              <a:defRPr sz="1300" b="0">
                <a:solidFill>
                  <a:srgbClr val="213449"/>
                </a:solidFill>
                <a:latin typeface="Aptos"/>
              </a:defRPr>
            </a:pPr>
            <a:r>
              <a:t>English hint; beam size 5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77240" y="3063240"/>
            <a:ext cx="10652760" cy="2103120"/>
          </a:xfrm>
          <a:prstGeom prst="roundRect">
            <a:avLst>
              <a:gd name="adj" fmla="val 8000"/>
            </a:avLst>
          </a:prstGeom>
          <a:solidFill>
            <a:srgbClr val="EEF5F8"/>
          </a:solidFill>
          <a:ln>
            <a:solidFill>
              <a:srgbClr val="D9E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777240" y="3172968"/>
            <a:ext cx="64008" cy="1883663"/>
          </a:xfrm>
          <a:prstGeom prst="rect">
            <a:avLst/>
          </a:prstGeom>
          <a:solidFill>
            <a:srgbClr val="79C8AE"/>
          </a:solidFill>
          <a:ln>
            <a:solidFill>
              <a:srgbClr val="79C8A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978408" y="3209544"/>
            <a:ext cx="10268712" cy="38404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500"/>
              </a:spcAft>
              <a:defRPr sz="1500" b="1">
                <a:solidFill>
                  <a:srgbClr val="142B45"/>
                </a:solidFill>
                <a:latin typeface="Aptos"/>
              </a:defRPr>
            </a:pPr>
            <a:r>
              <a:t>Transcript excerpt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78408" y="3666744"/>
            <a:ext cx="10268712" cy="1389887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500"/>
              </a:spcAft>
              <a:defRPr sz="1500" b="0">
                <a:solidFill>
                  <a:srgbClr val="213449"/>
                </a:solidFill>
                <a:latin typeface="Aptos"/>
              </a:defRPr>
            </a:pPr>
            <a:r>
              <a:t>Yeah, thank you for giving me this opportunity. I want to talk about my daily life and the challenges I face while speaking sometimes. I know what I want to say, but the words get stuck and I can't continue easily. It's far frustrating when I try to explain something but I keep trying to get the words out. I take a deep breath, pause for a moment and start again with poor practice and pa...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" y="5394960"/>
            <a:ext cx="10424160" cy="53035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500"/>
              </a:spcAft>
              <a:defRPr sz="1300" b="0">
                <a:solidFill>
                  <a:srgbClr val="657789"/>
                </a:solidFill>
                <a:latin typeface="Aptos"/>
              </a:defRPr>
            </a:pPr>
            <a:r>
              <a:t>Fluent wording is not proof of verbatim transcription. The recognizer may normalize or omit disfluencies.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8B8C5"/>
          </a:solidFill>
          <a:ln>
            <a:solidFill>
              <a:srgbClr val="48B8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30352" y="283464"/>
            <a:ext cx="10789920" cy="47548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500"/>
              </a:spcAft>
              <a:defRPr sz="2500" b="1">
                <a:solidFill>
                  <a:srgbClr val="142B45"/>
                </a:solidFill>
                <a:latin typeface="Aptos"/>
              </a:defRPr>
            </a:pPr>
            <a:r>
              <a:t>7 | Evaluation with word error rate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57784" y="804672"/>
            <a:ext cx="10972800" cy="32004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500"/>
              </a:spcAft>
              <a:defRPr sz="1100" b="0">
                <a:solidFill>
                  <a:srgbClr val="657789"/>
                </a:solidFill>
                <a:latin typeface="Aptos"/>
              </a:defRPr>
            </a:pPr>
            <a:r>
              <a:t>Word-level edit distance relative to a reference transcript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6528816"/>
            <a:ext cx="11109960" cy="10972"/>
          </a:xfrm>
          <a:prstGeom prst="rect">
            <a:avLst/>
          </a:prstGeom>
          <a:solidFill>
            <a:srgbClr val="D9E4EA"/>
          </a:solidFill>
          <a:ln>
            <a:solidFill>
              <a:srgbClr val="D9E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66928" y="6583680"/>
            <a:ext cx="896112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500"/>
              </a:spcAft>
              <a:defRPr sz="750" b="0">
                <a:solidFill>
                  <a:srgbClr val="657789"/>
                </a:solidFill>
                <a:latin typeface="Aptos"/>
              </a:defRPr>
            </a:pPr>
            <a:r>
              <a:t>STUTTER SPEECH ASR + TTS | Educational demonstration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81360" y="6565392"/>
            <a:ext cx="731520" cy="18288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>
              <a:spcAft>
                <a:spcPts val="500"/>
              </a:spcAft>
              <a:defRPr sz="800" b="0">
                <a:solidFill>
                  <a:srgbClr val="657789"/>
                </a:solidFill>
                <a:latin typeface="Aptos"/>
              </a:defRPr>
            </a:pPr>
            <a:r>
              <a:t>10 / 15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417320"/>
            <a:ext cx="10561320" cy="960120"/>
          </a:xfrm>
          <a:prstGeom prst="roundRect">
            <a:avLst>
              <a:gd name="adj" fmla="val 8000"/>
            </a:avLst>
          </a:prstGeom>
          <a:solidFill>
            <a:srgbClr val="EAF6F2"/>
          </a:solidFill>
          <a:ln>
            <a:solidFill>
              <a:srgbClr val="48B8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143000" y="1618488"/>
            <a:ext cx="9875520" cy="54864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Aft>
                <a:spcPts val="500"/>
              </a:spcAft>
              <a:defRPr sz="2300" b="1">
                <a:solidFill>
                  <a:srgbClr val="142B45"/>
                </a:solidFill>
                <a:latin typeface="Aptos"/>
              </a:defRPr>
            </a:pPr>
            <a:r>
              <a:t>WER = (Substitutions + Deletions + Insertions) / Reference words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" y="2971800"/>
            <a:ext cx="2468880" cy="1188720"/>
          </a:xfrm>
          <a:prstGeom prst="roundRect">
            <a:avLst>
              <a:gd name="adj" fmla="val 8000"/>
            </a:avLst>
          </a:prstGeom>
          <a:solidFill>
            <a:srgbClr val="EEF5F8"/>
          </a:solidFill>
          <a:ln>
            <a:solidFill>
              <a:srgbClr val="D9E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868680" y="3081528"/>
            <a:ext cx="64008" cy="969264"/>
          </a:xfrm>
          <a:prstGeom prst="rect">
            <a:avLst/>
          </a:prstGeom>
          <a:solidFill>
            <a:srgbClr val="2878A5"/>
          </a:solidFill>
          <a:ln>
            <a:solidFill>
              <a:srgbClr val="2878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069848" y="3118104"/>
            <a:ext cx="2084832" cy="38404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500"/>
              </a:spcAft>
              <a:defRPr sz="1500" b="1">
                <a:solidFill>
                  <a:srgbClr val="142B45"/>
                </a:solidFill>
                <a:latin typeface="Aptos"/>
              </a:defRPr>
            </a:pPr>
            <a:r>
              <a:t>Reference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" y="3575304"/>
            <a:ext cx="2084832" cy="47548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500"/>
              </a:spcAft>
              <a:defRPr sz="1200" b="0">
                <a:solidFill>
                  <a:srgbClr val="213449"/>
                </a:solidFill>
                <a:latin typeface="Aptos"/>
              </a:defRPr>
            </a:pPr>
            <a:r>
              <a:t>81 words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703320" y="2971800"/>
            <a:ext cx="2468880" cy="1188720"/>
          </a:xfrm>
          <a:prstGeom prst="roundRect">
            <a:avLst>
              <a:gd name="adj" fmla="val 8000"/>
            </a:avLst>
          </a:prstGeom>
          <a:solidFill>
            <a:srgbClr val="EEF5F8"/>
          </a:solidFill>
          <a:ln>
            <a:solidFill>
              <a:srgbClr val="D9E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3703320" y="3081528"/>
            <a:ext cx="64008" cy="969264"/>
          </a:xfrm>
          <a:prstGeom prst="rect">
            <a:avLst/>
          </a:prstGeom>
          <a:solidFill>
            <a:srgbClr val="48B8C5"/>
          </a:solidFill>
          <a:ln>
            <a:solidFill>
              <a:srgbClr val="48B8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904487" y="3118104"/>
            <a:ext cx="2084832" cy="38404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500"/>
              </a:spcAft>
              <a:defRPr sz="1500" b="1">
                <a:solidFill>
                  <a:srgbClr val="142B45"/>
                </a:solidFill>
                <a:latin typeface="Aptos"/>
              </a:defRPr>
            </a:pPr>
            <a:r>
              <a:t>Normalize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04487" y="3575304"/>
            <a:ext cx="2084832" cy="47548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500"/>
              </a:spcAft>
              <a:defRPr sz="1200" b="0">
                <a:solidFill>
                  <a:srgbClr val="213449"/>
                </a:solidFill>
                <a:latin typeface="Aptos"/>
              </a:defRPr>
            </a:pPr>
            <a:r>
              <a:t>case / punctuation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37960" y="2971800"/>
            <a:ext cx="2468880" cy="1188720"/>
          </a:xfrm>
          <a:prstGeom prst="roundRect">
            <a:avLst>
              <a:gd name="adj" fmla="val 8000"/>
            </a:avLst>
          </a:prstGeom>
          <a:solidFill>
            <a:srgbClr val="EEF5F8"/>
          </a:solidFill>
          <a:ln>
            <a:solidFill>
              <a:srgbClr val="D9E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6537960" y="3081528"/>
            <a:ext cx="64008" cy="969264"/>
          </a:xfrm>
          <a:prstGeom prst="rect">
            <a:avLst/>
          </a:prstGeom>
          <a:solidFill>
            <a:srgbClr val="79C8AE"/>
          </a:solidFill>
          <a:ln>
            <a:solidFill>
              <a:srgbClr val="79C8A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739128" y="3118104"/>
            <a:ext cx="2084832" cy="38404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500"/>
              </a:spcAft>
              <a:defRPr sz="1500" b="1">
                <a:solidFill>
                  <a:srgbClr val="142B45"/>
                </a:solidFill>
                <a:latin typeface="Aptos"/>
              </a:defRPr>
            </a:pPr>
            <a:r>
              <a:t>Align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39128" y="3575304"/>
            <a:ext cx="2084832" cy="47548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500"/>
              </a:spcAft>
              <a:defRPr sz="1200" b="0">
                <a:solidFill>
                  <a:srgbClr val="213449"/>
                </a:solidFill>
                <a:latin typeface="Aptos"/>
              </a:defRPr>
            </a:pPr>
            <a:r>
              <a:t>JiWER operations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372600" y="2971800"/>
            <a:ext cx="2468880" cy="1188720"/>
          </a:xfrm>
          <a:prstGeom prst="roundRect">
            <a:avLst>
              <a:gd name="adj" fmla="val 8000"/>
            </a:avLst>
          </a:prstGeom>
          <a:solidFill>
            <a:srgbClr val="EEF5F8"/>
          </a:solidFill>
          <a:ln>
            <a:solidFill>
              <a:srgbClr val="D9E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9372600" y="3081528"/>
            <a:ext cx="64008" cy="969264"/>
          </a:xfrm>
          <a:prstGeom prst="rect">
            <a:avLst/>
          </a:prstGeom>
          <a:solidFill>
            <a:srgbClr val="E97868"/>
          </a:solidFill>
          <a:ln>
            <a:solidFill>
              <a:srgbClr val="E978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9573768" y="3118104"/>
            <a:ext cx="2084832" cy="38404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500"/>
              </a:spcAft>
              <a:defRPr sz="1500" b="1">
                <a:solidFill>
                  <a:srgbClr val="142B45"/>
                </a:solidFill>
                <a:latin typeface="Aptos"/>
              </a:defRPr>
            </a:pPr>
            <a:r>
              <a:t>Count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573768" y="3575304"/>
            <a:ext cx="2084832" cy="47548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500"/>
              </a:spcAft>
              <a:defRPr sz="1200" b="0">
                <a:solidFill>
                  <a:srgbClr val="213449"/>
                </a:solidFill>
                <a:latin typeface="Aptos"/>
              </a:defRPr>
            </a:pPr>
            <a:r>
              <a:t>S, D, I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22960" y="4709160"/>
            <a:ext cx="10561320" cy="868680"/>
          </a:xfrm>
          <a:prstGeom prst="roundRect">
            <a:avLst>
              <a:gd name="adj" fmla="val 8000"/>
            </a:avLst>
          </a:prstGeom>
          <a:solidFill>
            <a:srgbClr val="FFF4D6"/>
          </a:solidFill>
          <a:ln>
            <a:solidFill>
              <a:srgbClr val="D6A9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1005840" y="4892040"/>
            <a:ext cx="10149840" cy="47548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500"/>
              </a:spcAft>
              <a:defRPr sz="1400" b="1">
                <a:solidFill>
                  <a:srgbClr val="213449"/>
                </a:solidFill>
                <a:latin typeface="Aptos"/>
              </a:defRPr>
            </a:pPr>
            <a:r>
              <a:t>WER is meaningful only if the reference is independently verified and transcription conventions are consistent.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8B8C5"/>
          </a:solidFill>
          <a:ln>
            <a:solidFill>
              <a:srgbClr val="48B8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30352" y="283464"/>
            <a:ext cx="10789920" cy="47548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500"/>
              </a:spcAft>
              <a:defRPr sz="2500" b="1">
                <a:solidFill>
                  <a:srgbClr val="142B45"/>
                </a:solidFill>
                <a:latin typeface="Aptos"/>
              </a:defRPr>
            </a:pPr>
            <a:r>
              <a:t>8 | Results on the current reference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57784" y="804672"/>
            <a:ext cx="10972800" cy="32004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500"/>
              </a:spcAft>
              <a:defRPr sz="1100" b="0">
                <a:solidFill>
                  <a:srgbClr val="657789"/>
                </a:solidFill>
                <a:latin typeface="Aptos"/>
              </a:defRPr>
            </a:pPr>
            <a:r>
              <a:t>One sample; current reference transcript is provisional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6528816"/>
            <a:ext cx="11109960" cy="10972"/>
          </a:xfrm>
          <a:prstGeom prst="rect">
            <a:avLst/>
          </a:prstGeom>
          <a:solidFill>
            <a:srgbClr val="D9E4EA"/>
          </a:solidFill>
          <a:ln>
            <a:solidFill>
              <a:srgbClr val="D9E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66928" y="6583680"/>
            <a:ext cx="896112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500"/>
              </a:spcAft>
              <a:defRPr sz="750" b="0">
                <a:solidFill>
                  <a:srgbClr val="657789"/>
                </a:solidFill>
                <a:latin typeface="Aptos"/>
              </a:defRPr>
            </a:pPr>
            <a:r>
              <a:t>STUTTER SPEECH ASR + TTS | Educational demonstration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81360" y="6565392"/>
            <a:ext cx="731520" cy="18288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>
              <a:spcAft>
                <a:spcPts val="500"/>
              </a:spcAft>
              <a:defRPr sz="800" b="0">
                <a:solidFill>
                  <a:srgbClr val="657789"/>
                </a:solidFill>
                <a:latin typeface="Aptos"/>
              </a:defRPr>
            </a:pPr>
            <a:r>
              <a:t>11 / 15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920240" y="2487168"/>
            <a:ext cx="0" cy="1536192"/>
          </a:xfrm>
          <a:prstGeom prst="line">
            <a:avLst/>
          </a:prstGeom>
          <a:ln>
            <a:solidFill>
              <a:srgbClr val="D9E4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783080" y="4041648"/>
            <a:ext cx="274320" cy="18288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Aft>
                <a:spcPts val="500"/>
              </a:spcAft>
              <a:defRPr sz="900" b="0">
                <a:solidFill>
                  <a:srgbClr val="657789"/>
                </a:solidFill>
                <a:latin typeface="Aptos"/>
              </a:defRPr>
            </a:pPr>
            <a:r>
              <a:t>0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3621024" y="2487168"/>
            <a:ext cx="0" cy="1536192"/>
          </a:xfrm>
          <a:prstGeom prst="line">
            <a:avLst/>
          </a:prstGeom>
          <a:ln>
            <a:solidFill>
              <a:srgbClr val="D9E4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3483864" y="4041648"/>
            <a:ext cx="274320" cy="18288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Aft>
                <a:spcPts val="500"/>
              </a:spcAft>
              <a:defRPr sz="900" b="0">
                <a:solidFill>
                  <a:srgbClr val="657789"/>
                </a:solidFill>
                <a:latin typeface="Aptos"/>
              </a:defRPr>
            </a:pPr>
            <a:r>
              <a:t>20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5321808" y="2487168"/>
            <a:ext cx="0" cy="1536192"/>
          </a:xfrm>
          <a:prstGeom prst="line">
            <a:avLst/>
          </a:prstGeom>
          <a:ln>
            <a:solidFill>
              <a:srgbClr val="D9E4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5184648" y="4041648"/>
            <a:ext cx="274320" cy="18288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Aft>
                <a:spcPts val="500"/>
              </a:spcAft>
              <a:defRPr sz="900" b="0">
                <a:solidFill>
                  <a:srgbClr val="657789"/>
                </a:solidFill>
                <a:latin typeface="Aptos"/>
              </a:defRPr>
            </a:pPr>
            <a:r>
              <a:t>40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7022592" y="2487168"/>
            <a:ext cx="0" cy="1536192"/>
          </a:xfrm>
          <a:prstGeom prst="line">
            <a:avLst/>
          </a:prstGeom>
          <a:ln>
            <a:solidFill>
              <a:srgbClr val="D9E4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885431" y="4041648"/>
            <a:ext cx="274320" cy="18288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Aft>
                <a:spcPts val="500"/>
              </a:spcAft>
              <a:defRPr sz="900" b="0">
                <a:solidFill>
                  <a:srgbClr val="657789"/>
                </a:solidFill>
                <a:latin typeface="Aptos"/>
              </a:defRPr>
            </a:pPr>
            <a:r>
              <a:t>60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8723376" y="2487168"/>
            <a:ext cx="0" cy="1536192"/>
          </a:xfrm>
          <a:prstGeom prst="line">
            <a:avLst/>
          </a:prstGeom>
          <a:ln>
            <a:solidFill>
              <a:srgbClr val="D9E4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8586216" y="4041648"/>
            <a:ext cx="274320" cy="18288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Aft>
                <a:spcPts val="500"/>
              </a:spcAft>
              <a:defRPr sz="900" b="0">
                <a:solidFill>
                  <a:srgbClr val="657789"/>
                </a:solidFill>
                <a:latin typeface="Aptos"/>
              </a:defRPr>
            </a:pPr>
            <a:r>
              <a:t>80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10424160" y="2487168"/>
            <a:ext cx="0" cy="1536192"/>
          </a:xfrm>
          <a:prstGeom prst="line">
            <a:avLst/>
          </a:prstGeom>
          <a:ln>
            <a:solidFill>
              <a:srgbClr val="D9E4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10287000" y="4041648"/>
            <a:ext cx="274320" cy="18288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Aft>
                <a:spcPts val="500"/>
              </a:spcAft>
              <a:defRPr sz="900" b="0">
                <a:solidFill>
                  <a:srgbClr val="657789"/>
                </a:solidFill>
                <a:latin typeface="Aptos"/>
              </a:defRPr>
            </a:pPr>
            <a:r>
              <a:t>100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" y="2697479"/>
            <a:ext cx="123444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500"/>
              </a:spcAft>
              <a:defRPr sz="1200" b="1">
                <a:solidFill>
                  <a:srgbClr val="213449"/>
                </a:solidFill>
                <a:latin typeface="Aptos"/>
              </a:defRPr>
            </a:pPr>
            <a:r>
              <a:t>Wav2Vec2 CTC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920240" y="2679191"/>
            <a:ext cx="1574800" cy="365760"/>
          </a:xfrm>
          <a:prstGeom prst="roundRect">
            <a:avLst>
              <a:gd name="adj" fmla="val 8000"/>
            </a:avLst>
          </a:prstGeom>
          <a:solidFill>
            <a:srgbClr val="2878A5"/>
          </a:solidFill>
          <a:ln>
            <a:solidFill>
              <a:srgbClr val="2878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3604768" y="2724911"/>
            <a:ext cx="1097280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500"/>
              </a:spcAft>
              <a:defRPr sz="1200" b="1">
                <a:solidFill>
                  <a:srgbClr val="142B45"/>
                </a:solidFill>
                <a:latin typeface="Aptos"/>
              </a:defRPr>
            </a:pPr>
            <a:r>
              <a:t>18.52%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" y="3355848"/>
            <a:ext cx="123444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500"/>
              </a:spcAft>
              <a:defRPr sz="1200" b="1">
                <a:solidFill>
                  <a:srgbClr val="213449"/>
                </a:solidFill>
                <a:latin typeface="Aptos"/>
              </a:defRPr>
            </a:pPr>
            <a:r>
              <a:t>Whisper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920240" y="3337560"/>
            <a:ext cx="104986" cy="365760"/>
          </a:xfrm>
          <a:prstGeom prst="roundRect">
            <a:avLst>
              <a:gd name="adj" fmla="val 8000"/>
            </a:avLst>
          </a:prstGeom>
          <a:solidFill>
            <a:srgbClr val="E97868"/>
          </a:solidFill>
          <a:ln>
            <a:solidFill>
              <a:srgbClr val="E978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2134954" y="3383279"/>
            <a:ext cx="1097280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500"/>
              </a:spcAft>
              <a:defRPr sz="1200" b="1">
                <a:solidFill>
                  <a:srgbClr val="142B45"/>
                </a:solidFill>
                <a:latin typeface="Aptos"/>
              </a:defRPr>
            </a:pPr>
            <a:r>
              <a:t>1.23%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920240" y="4297679"/>
            <a:ext cx="8503920" cy="20116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Aft>
                <a:spcPts val="500"/>
              </a:spcAft>
              <a:defRPr sz="900" b="0">
                <a:solidFill>
                  <a:srgbClr val="657789"/>
                </a:solidFill>
                <a:latin typeface="Aptos"/>
              </a:defRPr>
            </a:pPr>
            <a:r>
              <a:t>WER (%) - lower is better only when the reference is trustworthy</a:t>
            </a:r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731520" y="4709160"/>
          <a:ext cx="10698478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2835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2835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2835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2835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52835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2835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52835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Model</a:t>
                      </a:r>
                    </a:p>
                  </a:txBody>
                  <a:tcPr marL="54864" marR="36576" marT="36576" marB="27432">
                    <a:solidFill>
                      <a:srgbClr val="142B4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Hits</a:t>
                      </a:r>
                    </a:p>
                  </a:txBody>
                  <a:tcPr marL="54864" marR="36576" marT="36576" marB="27432">
                    <a:solidFill>
                      <a:srgbClr val="142B4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Sub</a:t>
                      </a:r>
                    </a:p>
                  </a:txBody>
                  <a:tcPr marL="54864" marR="36576" marT="36576" marB="27432">
                    <a:solidFill>
                      <a:srgbClr val="142B4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Del</a:t>
                      </a:r>
                    </a:p>
                  </a:txBody>
                  <a:tcPr marL="54864" marR="36576" marT="36576" marB="27432">
                    <a:solidFill>
                      <a:srgbClr val="142B4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Ins</a:t>
                      </a:r>
                    </a:p>
                  </a:txBody>
                  <a:tcPr marL="54864" marR="36576" marT="36576" marB="27432">
                    <a:solidFill>
                      <a:srgbClr val="142B4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Words</a:t>
                      </a:r>
                    </a:p>
                  </a:txBody>
                  <a:tcPr marL="54864" marR="36576" marT="36576" marB="27432">
                    <a:solidFill>
                      <a:srgbClr val="142B4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WER</a:t>
                      </a:r>
                    </a:p>
                  </a:txBody>
                  <a:tcPr marL="54864" marR="36576" marT="36576" marB="27432">
                    <a:solidFill>
                      <a:srgbClr val="142B4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13449"/>
                          </a:solidFill>
                          <a:latin typeface="Aptos"/>
                        </a:defRPr>
                      </a:pPr>
                      <a:r>
                        <a:t>Wav2Vec2 CTC</a:t>
                      </a:r>
                    </a:p>
                  </a:txBody>
                  <a:tcPr marL="54864" marR="36576" marT="36576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13449"/>
                          </a:solidFill>
                          <a:latin typeface="Aptos"/>
                        </a:defRPr>
                      </a:pPr>
                      <a:r>
                        <a:t>74</a:t>
                      </a:r>
                    </a:p>
                  </a:txBody>
                  <a:tcPr marL="54864" marR="36576" marT="36576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13449"/>
                          </a:solidFill>
                          <a:latin typeface="Aptos"/>
                        </a:defRPr>
                      </a:pPr>
                      <a:r>
                        <a:t>7</a:t>
                      </a:r>
                    </a:p>
                  </a:txBody>
                  <a:tcPr marL="54864" marR="36576" marT="36576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13449"/>
                          </a:solidFill>
                          <a:latin typeface="Aptos"/>
                        </a:defRPr>
                      </a:pPr>
                      <a:r>
                        <a:t>0</a:t>
                      </a:r>
                    </a:p>
                  </a:txBody>
                  <a:tcPr marL="54864" marR="36576" marT="36576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13449"/>
                          </a:solidFill>
                          <a:latin typeface="Aptos"/>
                        </a:defRPr>
                      </a:pPr>
                      <a:r>
                        <a:t>8</a:t>
                      </a:r>
                    </a:p>
                  </a:txBody>
                  <a:tcPr marL="54864" marR="36576" marT="36576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13449"/>
                          </a:solidFill>
                          <a:latin typeface="Aptos"/>
                        </a:defRPr>
                      </a:pPr>
                      <a:r>
                        <a:t>81</a:t>
                      </a:r>
                    </a:p>
                  </a:txBody>
                  <a:tcPr marL="54864" marR="36576" marT="36576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13449"/>
                          </a:solidFill>
                          <a:latin typeface="Aptos"/>
                        </a:defRPr>
                      </a:pPr>
                      <a:r>
                        <a:t>18.52%</a:t>
                      </a:r>
                    </a:p>
                  </a:txBody>
                  <a:tcPr marL="54864" marR="36576" marT="36576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13449"/>
                          </a:solidFill>
                          <a:latin typeface="Aptos"/>
                        </a:defRPr>
                      </a:pPr>
                      <a:r>
                        <a:t>Whisper</a:t>
                      </a:r>
                    </a:p>
                  </a:txBody>
                  <a:tcPr marL="54864" marR="36576" marT="36576" marB="27432">
                    <a:solidFill>
                      <a:srgbClr val="EE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13449"/>
                          </a:solidFill>
                          <a:latin typeface="Aptos"/>
                        </a:defRPr>
                      </a:pPr>
                      <a:r>
                        <a:t>81</a:t>
                      </a:r>
                    </a:p>
                  </a:txBody>
                  <a:tcPr marL="54864" marR="36576" marT="36576" marB="27432">
                    <a:solidFill>
                      <a:srgbClr val="EE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13449"/>
                          </a:solidFill>
                          <a:latin typeface="Aptos"/>
                        </a:defRPr>
                      </a:pPr>
                      <a:r>
                        <a:t>0</a:t>
                      </a:r>
                    </a:p>
                  </a:txBody>
                  <a:tcPr marL="54864" marR="36576" marT="36576" marB="27432">
                    <a:solidFill>
                      <a:srgbClr val="EE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13449"/>
                          </a:solidFill>
                          <a:latin typeface="Aptos"/>
                        </a:defRPr>
                      </a:pPr>
                      <a:r>
                        <a:t>0</a:t>
                      </a:r>
                    </a:p>
                  </a:txBody>
                  <a:tcPr marL="54864" marR="36576" marT="36576" marB="27432">
                    <a:solidFill>
                      <a:srgbClr val="EE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13449"/>
                          </a:solidFill>
                          <a:latin typeface="Aptos"/>
                        </a:defRPr>
                      </a:pPr>
                      <a:r>
                        <a:t>1</a:t>
                      </a:r>
                    </a:p>
                  </a:txBody>
                  <a:tcPr marL="54864" marR="36576" marT="36576" marB="27432">
                    <a:solidFill>
                      <a:srgbClr val="EE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13449"/>
                          </a:solidFill>
                          <a:latin typeface="Aptos"/>
                        </a:defRPr>
                      </a:pPr>
                      <a:r>
                        <a:t>81</a:t>
                      </a:r>
                    </a:p>
                  </a:txBody>
                  <a:tcPr marL="54864" marR="36576" marT="36576" marB="27432">
                    <a:solidFill>
                      <a:srgbClr val="EE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13449"/>
                          </a:solidFill>
                          <a:latin typeface="Aptos"/>
                        </a:defRPr>
                      </a:pPr>
                      <a:r>
                        <a:t>1.23%</a:t>
                      </a:r>
                    </a:p>
                  </a:txBody>
                  <a:tcPr marL="54864" marR="36576" marT="36576" marB="27432">
                    <a:solidFill>
                      <a:srgbClr val="EE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8B8C5"/>
          </a:solidFill>
          <a:ln>
            <a:solidFill>
              <a:srgbClr val="48B8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30352" y="283464"/>
            <a:ext cx="10789920" cy="47548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500"/>
              </a:spcAft>
              <a:defRPr sz="2500" b="1">
                <a:solidFill>
                  <a:srgbClr val="142B45"/>
                </a:solidFill>
                <a:latin typeface="Aptos"/>
              </a:defRPr>
            </a:pPr>
            <a:r>
              <a:t>9 | Critical evaluation caveat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57784" y="804672"/>
            <a:ext cx="10972800" cy="32004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500"/>
              </a:spcAft>
              <a:defRPr sz="1100" b="0">
                <a:solidFill>
                  <a:srgbClr val="657789"/>
                </a:solidFill>
                <a:latin typeface="Aptos"/>
              </a:defRPr>
            </a:pPr>
            <a:r>
              <a:t>The current comparison favors the model that shaped the reference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6528816"/>
            <a:ext cx="11109960" cy="10972"/>
          </a:xfrm>
          <a:prstGeom prst="rect">
            <a:avLst/>
          </a:prstGeom>
          <a:solidFill>
            <a:srgbClr val="D9E4EA"/>
          </a:solidFill>
          <a:ln>
            <a:solidFill>
              <a:srgbClr val="D9E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66928" y="6583680"/>
            <a:ext cx="896112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500"/>
              </a:spcAft>
              <a:defRPr sz="750" b="0">
                <a:solidFill>
                  <a:srgbClr val="657789"/>
                </a:solidFill>
                <a:latin typeface="Aptos"/>
              </a:defRPr>
            </a:pPr>
            <a:r>
              <a:t>STUTTER SPEECH ASR + TTS | Educational demonstration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81360" y="6565392"/>
            <a:ext cx="731520" cy="18288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>
              <a:spcAft>
                <a:spcPts val="500"/>
              </a:spcAft>
              <a:defRPr sz="800" b="0">
                <a:solidFill>
                  <a:srgbClr val="657789"/>
                </a:solidFill>
                <a:latin typeface="Aptos"/>
              </a:defRPr>
            </a:pPr>
            <a:r>
              <a:t>12 / 15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417320"/>
            <a:ext cx="5212080" cy="1417320"/>
          </a:xfrm>
          <a:prstGeom prst="roundRect">
            <a:avLst>
              <a:gd name="adj" fmla="val 8000"/>
            </a:avLst>
          </a:prstGeom>
          <a:solidFill>
            <a:srgbClr val="EEF5F8"/>
          </a:solidFill>
          <a:ln>
            <a:solidFill>
              <a:srgbClr val="D9E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731520" y="1527048"/>
            <a:ext cx="64008" cy="1197864"/>
          </a:xfrm>
          <a:prstGeom prst="rect">
            <a:avLst/>
          </a:prstGeom>
          <a:solidFill>
            <a:srgbClr val="F2B84B"/>
          </a:solidFill>
          <a:ln>
            <a:solidFill>
              <a:srgbClr val="F2B8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32688" y="1563624"/>
            <a:ext cx="4828032" cy="38404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500"/>
              </a:spcAft>
              <a:defRPr sz="1500" b="1">
                <a:solidFill>
                  <a:srgbClr val="142B45"/>
                </a:solidFill>
                <a:latin typeface="Aptos"/>
              </a:defRPr>
            </a:pPr>
            <a:r>
              <a:t>Current reference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020824"/>
            <a:ext cx="4828032" cy="70408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500"/>
              </a:spcAft>
              <a:defRPr sz="1400" b="0">
                <a:solidFill>
                  <a:srgbClr val="213449"/>
                </a:solidFill>
                <a:latin typeface="Aptos"/>
              </a:defRPr>
            </a:pPr>
            <a:r>
              <a:t>81 words; not independently verified against the recording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1417320"/>
            <a:ext cx="5212080" cy="1417320"/>
          </a:xfrm>
          <a:prstGeom prst="roundRect">
            <a:avLst>
              <a:gd name="adj" fmla="val 8000"/>
            </a:avLst>
          </a:prstGeom>
          <a:solidFill>
            <a:srgbClr val="EEF5F8"/>
          </a:solidFill>
          <a:ln>
            <a:solidFill>
              <a:srgbClr val="D9E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217920" y="1527048"/>
            <a:ext cx="64008" cy="1197864"/>
          </a:xfrm>
          <a:prstGeom prst="rect">
            <a:avLst/>
          </a:prstGeom>
          <a:solidFill>
            <a:srgbClr val="E97868"/>
          </a:solidFill>
          <a:ln>
            <a:solidFill>
              <a:srgbClr val="E978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419088" y="1563624"/>
            <a:ext cx="4828032" cy="38404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500"/>
              </a:spcAft>
              <a:defRPr sz="1500" b="1">
                <a:solidFill>
                  <a:srgbClr val="142B45"/>
                </a:solidFill>
                <a:latin typeface="Aptos"/>
              </a:defRPr>
            </a:pPr>
            <a:r>
              <a:t>Whisper hypothesis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19088" y="2020824"/>
            <a:ext cx="4828032" cy="70408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500"/>
              </a:spcAft>
              <a:defRPr sz="1400" b="0">
                <a:solidFill>
                  <a:srgbClr val="213449"/>
                </a:solidFill>
                <a:latin typeface="Aptos"/>
              </a:defRPr>
            </a:pPr>
            <a:r>
              <a:t>Closely follows the provisional reference text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246120"/>
            <a:ext cx="10424160" cy="54864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Aft>
                <a:spcPts val="500"/>
              </a:spcAft>
              <a:defRPr sz="2400" b="1">
                <a:solidFill>
                  <a:srgbClr val="E97868"/>
                </a:solidFill>
                <a:latin typeface="Aptos"/>
              </a:defRPr>
            </a:pPr>
            <a:r>
              <a:t>Therefore, 1.23% is not a fair accuracy benchmark.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" y="4005072"/>
            <a:ext cx="10149840" cy="109728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Aft>
                <a:spcPts val="500"/>
              </a:spcAft>
              <a:defRPr sz="1800" b="0">
                <a:solidFill>
                  <a:srgbClr val="142B45"/>
                </a:solidFill>
                <a:latin typeface="Aptos"/>
              </a:defRPr>
            </a:pPr>
            <a:r>
              <a:t>Listen to the source audio, prepare a verbatim transcript independently, define a consistent policy for repetitions and fillers, review uncertain spans, then rerun both WER calculations.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5623560"/>
            <a:ext cx="10424160" cy="32004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Aft>
                <a:spcPts val="500"/>
              </a:spcAft>
              <a:defRPr sz="1200" b="0">
                <a:solidFill>
                  <a:srgbClr val="657789"/>
                </a:solidFill>
                <a:latin typeface="Aptos"/>
              </a:defRPr>
            </a:pPr>
            <a:r>
              <a:t>These results describe one example only; do not infer general model superiority.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8B8C5"/>
          </a:solidFill>
          <a:ln>
            <a:solidFill>
              <a:srgbClr val="48B8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30352" y="283464"/>
            <a:ext cx="10789920" cy="47548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500"/>
              </a:spcAft>
              <a:defRPr sz="2500" b="1">
                <a:solidFill>
                  <a:srgbClr val="142B45"/>
                </a:solidFill>
                <a:latin typeface="Aptos"/>
              </a:defRPr>
            </a:pPr>
            <a:r>
              <a:t>10 | Text-to-speech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57784" y="804672"/>
            <a:ext cx="10972800" cy="32004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500"/>
              </a:spcAft>
              <a:defRPr sz="1100" b="0">
                <a:solidFill>
                  <a:srgbClr val="657789"/>
                </a:solidFill>
                <a:latin typeface="Aptos"/>
              </a:defRPr>
            </a:pPr>
            <a:r>
              <a:t>Convert a recognized transcript back into an audio signal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6528816"/>
            <a:ext cx="11109960" cy="10972"/>
          </a:xfrm>
          <a:prstGeom prst="rect">
            <a:avLst/>
          </a:prstGeom>
          <a:solidFill>
            <a:srgbClr val="D9E4EA"/>
          </a:solidFill>
          <a:ln>
            <a:solidFill>
              <a:srgbClr val="D9E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66928" y="6583680"/>
            <a:ext cx="896112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500"/>
              </a:spcAft>
              <a:defRPr sz="750" b="0">
                <a:solidFill>
                  <a:srgbClr val="657789"/>
                </a:solidFill>
                <a:latin typeface="Aptos"/>
              </a:defRPr>
            </a:pPr>
            <a:r>
              <a:t>STUTTER SPEECH ASR + TTS | Educational demonstration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81360" y="6565392"/>
            <a:ext cx="731520" cy="18288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>
              <a:spcAft>
                <a:spcPts val="500"/>
              </a:spcAft>
              <a:defRPr sz="800" b="0">
                <a:solidFill>
                  <a:srgbClr val="657789"/>
                </a:solidFill>
                <a:latin typeface="Aptos"/>
              </a:defRPr>
            </a:pPr>
            <a:r>
              <a:t>13 / 15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737360"/>
            <a:ext cx="2029968" cy="914400"/>
          </a:xfrm>
          <a:prstGeom prst="roundRect">
            <a:avLst>
              <a:gd name="adj" fmla="val 8000"/>
            </a:avLst>
          </a:prstGeom>
          <a:solidFill>
            <a:srgbClr val="EEF5F8"/>
          </a:solidFill>
          <a:ln>
            <a:solidFill>
              <a:srgbClr val="2878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85800" y="1920240"/>
            <a:ext cx="1847088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Aft>
                <a:spcPts val="500"/>
              </a:spcAft>
              <a:defRPr sz="1400" b="1">
                <a:solidFill>
                  <a:srgbClr val="142B45"/>
                </a:solidFill>
                <a:latin typeface="Aptos"/>
              </a:defRPr>
            </a:pPr>
            <a:r>
              <a:t>Whisper text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258568"/>
            <a:ext cx="1847088" cy="219456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Aft>
                <a:spcPts val="500"/>
              </a:spcAft>
              <a:defRPr sz="900" b="0">
                <a:solidFill>
                  <a:srgbClr val="657789"/>
                </a:solidFill>
                <a:latin typeface="Aptos"/>
              </a:defRPr>
            </a:pPr>
            <a:r>
              <a:t>recognized words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24328" y="2039112"/>
            <a:ext cx="310896" cy="2286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Aft>
                <a:spcPts val="500"/>
              </a:spcAft>
              <a:defRPr sz="1600" b="1">
                <a:solidFill>
                  <a:srgbClr val="2878A5"/>
                </a:solidFill>
                <a:latin typeface="Aptos"/>
              </a:defRPr>
            </a:pPr>
            <a:r>
              <a:t>&gt;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935224" y="1737360"/>
            <a:ext cx="2029968" cy="914400"/>
          </a:xfrm>
          <a:prstGeom prst="roundRect">
            <a:avLst>
              <a:gd name="adj" fmla="val 8000"/>
            </a:avLst>
          </a:prstGeom>
          <a:solidFill>
            <a:srgbClr val="EAF6F2"/>
          </a:solidFill>
          <a:ln>
            <a:solidFill>
              <a:srgbClr val="48B8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026664" y="1920240"/>
            <a:ext cx="1847088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Aft>
                <a:spcPts val="500"/>
              </a:spcAft>
              <a:defRPr sz="1400" b="1">
                <a:solidFill>
                  <a:srgbClr val="142B45"/>
                </a:solidFill>
                <a:latin typeface="Aptos"/>
              </a:defRPr>
            </a:pPr>
            <a:r>
              <a:t>TTS engine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26664" y="2258568"/>
            <a:ext cx="1847088" cy="219456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Aft>
                <a:spcPts val="500"/>
              </a:spcAft>
              <a:defRPr sz="900" b="0">
                <a:solidFill>
                  <a:srgbClr val="657789"/>
                </a:solidFill>
                <a:latin typeface="Aptos"/>
              </a:defRPr>
            </a:pPr>
            <a:r>
              <a:t>Windows SAPI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65192" y="2039112"/>
            <a:ext cx="310896" cy="2286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Aft>
                <a:spcPts val="500"/>
              </a:spcAft>
              <a:defRPr sz="1600" b="1">
                <a:solidFill>
                  <a:srgbClr val="2878A5"/>
                </a:solidFill>
                <a:latin typeface="Aptos"/>
              </a:defRPr>
            </a:pPr>
            <a:r>
              <a:t>&gt;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276088" y="1737360"/>
            <a:ext cx="2029968" cy="914400"/>
          </a:xfrm>
          <a:prstGeom prst="roundRect">
            <a:avLst>
              <a:gd name="adj" fmla="val 8000"/>
            </a:avLst>
          </a:prstGeom>
          <a:solidFill>
            <a:srgbClr val="EEF5F8"/>
          </a:solidFill>
          <a:ln>
            <a:solidFill>
              <a:srgbClr val="2878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367528" y="1920240"/>
            <a:ext cx="1847088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Aft>
                <a:spcPts val="500"/>
              </a:spcAft>
              <a:defRPr sz="1400" b="1">
                <a:solidFill>
                  <a:srgbClr val="142B45"/>
                </a:solidFill>
                <a:latin typeface="Aptos"/>
              </a:defRPr>
            </a:pPr>
            <a:r>
              <a:t>WAV output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67528" y="2258568"/>
            <a:ext cx="1847088" cy="219456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Aft>
                <a:spcPts val="500"/>
              </a:spcAft>
              <a:defRPr sz="900" b="0">
                <a:solidFill>
                  <a:srgbClr val="657789"/>
                </a:solidFill>
                <a:latin typeface="Aptos"/>
              </a:defRPr>
            </a:pPr>
            <a:r>
              <a:t>PCM audio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06056" y="2039112"/>
            <a:ext cx="310896" cy="2286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Aft>
                <a:spcPts val="500"/>
              </a:spcAft>
              <a:defRPr sz="1600" b="1">
                <a:solidFill>
                  <a:srgbClr val="2878A5"/>
                </a:solidFill>
                <a:latin typeface="Aptos"/>
              </a:defRPr>
            </a:pPr>
            <a:r>
              <a:t>&gt;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616952" y="1737360"/>
            <a:ext cx="2029968" cy="914400"/>
          </a:xfrm>
          <a:prstGeom prst="roundRect">
            <a:avLst>
              <a:gd name="adj" fmla="val 8000"/>
            </a:avLst>
          </a:prstGeom>
          <a:solidFill>
            <a:srgbClr val="EAF6F2"/>
          </a:solidFill>
          <a:ln>
            <a:solidFill>
              <a:srgbClr val="48B8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708392" y="1920240"/>
            <a:ext cx="1847088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Aft>
                <a:spcPts val="500"/>
              </a:spcAft>
              <a:defRPr sz="1400" b="1">
                <a:solidFill>
                  <a:srgbClr val="142B45"/>
                </a:solidFill>
                <a:latin typeface="Aptos"/>
              </a:defRPr>
            </a:pPr>
            <a:r>
              <a:t>Listen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08392" y="2258568"/>
            <a:ext cx="1847088" cy="219456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Aft>
                <a:spcPts val="500"/>
              </a:spcAft>
              <a:defRPr sz="900" b="0">
                <a:solidFill>
                  <a:srgbClr val="657789"/>
                </a:solidFill>
                <a:latin typeface="Aptos"/>
              </a:defRPr>
            </a:pPr>
            <a:r>
              <a:t>quality check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46920" y="2039112"/>
            <a:ext cx="310896" cy="2286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Aft>
                <a:spcPts val="500"/>
              </a:spcAft>
              <a:defRPr sz="1600" b="1">
                <a:solidFill>
                  <a:srgbClr val="2878A5"/>
                </a:solidFill>
                <a:latin typeface="Aptos"/>
              </a:defRPr>
            </a:pPr>
            <a:r>
              <a:t>&gt;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957816" y="1737360"/>
            <a:ext cx="2029968" cy="914400"/>
          </a:xfrm>
          <a:prstGeom prst="roundRect">
            <a:avLst>
              <a:gd name="adj" fmla="val 8000"/>
            </a:avLst>
          </a:prstGeom>
          <a:solidFill>
            <a:srgbClr val="EEF5F8"/>
          </a:solidFill>
          <a:ln>
            <a:solidFill>
              <a:srgbClr val="2878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10049256" y="1920240"/>
            <a:ext cx="1847088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Aft>
                <a:spcPts val="500"/>
              </a:spcAft>
              <a:defRPr sz="1400" b="1">
                <a:solidFill>
                  <a:srgbClr val="142B45"/>
                </a:solidFill>
                <a:latin typeface="Aptos"/>
              </a:defRPr>
            </a:pPr>
            <a:r>
              <a:t>Caution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49256" y="2258568"/>
            <a:ext cx="1847088" cy="219456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Aft>
                <a:spcPts val="500"/>
              </a:spcAft>
              <a:defRPr sz="900" b="0">
                <a:solidFill>
                  <a:srgbClr val="657789"/>
                </a:solidFill>
                <a:latin typeface="Aptos"/>
              </a:defRPr>
            </a:pPr>
            <a:r>
              <a:t>synthetic voice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22960" y="3246120"/>
            <a:ext cx="5029200" cy="1508760"/>
          </a:xfrm>
          <a:prstGeom prst="roundRect">
            <a:avLst>
              <a:gd name="adj" fmla="val 8000"/>
            </a:avLst>
          </a:prstGeom>
          <a:solidFill>
            <a:srgbClr val="EEF5F8"/>
          </a:solidFill>
          <a:ln>
            <a:solidFill>
              <a:srgbClr val="D9E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822960" y="3355848"/>
            <a:ext cx="64008" cy="1289304"/>
          </a:xfrm>
          <a:prstGeom prst="rect">
            <a:avLst/>
          </a:prstGeom>
          <a:solidFill>
            <a:srgbClr val="2878A5"/>
          </a:solidFill>
          <a:ln>
            <a:solidFill>
              <a:srgbClr val="2878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1024128" y="3392424"/>
            <a:ext cx="4645152" cy="38404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500"/>
              </a:spcAft>
              <a:defRPr sz="1500" b="1">
                <a:solidFill>
                  <a:srgbClr val="142B45"/>
                </a:solidFill>
                <a:latin typeface="Aptos"/>
              </a:defRPr>
            </a:pPr>
            <a:r>
              <a:t>Generated artifact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24128" y="3849624"/>
            <a:ext cx="4645152" cy="795527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500"/>
              </a:spcAft>
              <a:defRPr sz="1400" b="0">
                <a:solidFill>
                  <a:srgbClr val="213449"/>
                </a:solidFill>
                <a:latin typeface="Aptos"/>
              </a:defRPr>
            </a:pPr>
            <a:r>
              <a:t>outputs/tts_output.wav</a:t>
            </a:r>
          </a:p>
          <a:p>
            <a:pPr algn="l">
              <a:spcAft>
                <a:spcPts val="500"/>
              </a:spcAft>
              <a:defRPr sz="1400" b="0">
                <a:solidFill>
                  <a:srgbClr val="213449"/>
                </a:solidFill>
                <a:latin typeface="Aptos"/>
              </a:defRPr>
            </a:pPr>
            <a:r>
              <a:t>28.7 seconds | 22,050 Hz | mono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263640" y="3246120"/>
            <a:ext cx="5029200" cy="1508760"/>
          </a:xfrm>
          <a:prstGeom prst="roundRect">
            <a:avLst>
              <a:gd name="adj" fmla="val 8000"/>
            </a:avLst>
          </a:prstGeom>
          <a:solidFill>
            <a:srgbClr val="EEF5F8"/>
          </a:solidFill>
          <a:ln>
            <a:solidFill>
              <a:srgbClr val="D9E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6263640" y="3355848"/>
            <a:ext cx="64008" cy="1289304"/>
          </a:xfrm>
          <a:prstGeom prst="rect">
            <a:avLst/>
          </a:prstGeom>
          <a:solidFill>
            <a:srgbClr val="79C8AE"/>
          </a:solidFill>
          <a:ln>
            <a:solidFill>
              <a:srgbClr val="79C8A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6464807" y="3392424"/>
            <a:ext cx="4645152" cy="38404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500"/>
              </a:spcAft>
              <a:defRPr sz="1500" b="1">
                <a:solidFill>
                  <a:srgbClr val="142B45"/>
                </a:solidFill>
                <a:latin typeface="Aptos"/>
              </a:defRPr>
            </a:pPr>
            <a:r>
              <a:t>Interpretation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64807" y="3849624"/>
            <a:ext cx="4645152" cy="795527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500"/>
              </a:spcAft>
              <a:defRPr sz="1400" b="0">
                <a:solidFill>
                  <a:srgbClr val="213449"/>
                </a:solidFill>
                <a:latin typeface="Aptos"/>
              </a:defRPr>
            </a:pPr>
            <a:r>
              <a:t>Synthetic speech of the transcript; it does not recreate the original speaker or their disfluencies.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4400" y="5303520"/>
            <a:ext cx="10424160" cy="5029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500"/>
              </a:spcAft>
              <a:defRPr sz="1300" b="0">
                <a:solidFill>
                  <a:srgbClr val="657789"/>
                </a:solidFill>
                <a:latin typeface="Aptos"/>
              </a:defRPr>
            </a:pPr>
            <a:r>
              <a:t>The notebook includes an optional gTTS alternative; it requires an internet connection.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8B8C5"/>
          </a:solidFill>
          <a:ln>
            <a:solidFill>
              <a:srgbClr val="48B8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30352" y="283464"/>
            <a:ext cx="10789920" cy="47548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500"/>
              </a:spcAft>
              <a:defRPr sz="2500" b="1">
                <a:solidFill>
                  <a:srgbClr val="142B45"/>
                </a:solidFill>
                <a:latin typeface="Aptos"/>
              </a:defRPr>
            </a:pPr>
            <a:r>
              <a:t>11 | Reproducible run order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57784" y="804672"/>
            <a:ext cx="10972800" cy="32004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500"/>
              </a:spcAft>
              <a:defRPr sz="1100" b="0">
                <a:solidFill>
                  <a:srgbClr val="657789"/>
                </a:solidFill>
                <a:latin typeface="Aptos"/>
              </a:defRPr>
            </a:pPr>
            <a:r>
              <a:t>Repository scripts and generated artifacts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6528816"/>
            <a:ext cx="11109960" cy="10972"/>
          </a:xfrm>
          <a:prstGeom prst="rect">
            <a:avLst/>
          </a:prstGeom>
          <a:solidFill>
            <a:srgbClr val="D9E4EA"/>
          </a:solidFill>
          <a:ln>
            <a:solidFill>
              <a:srgbClr val="D9E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66928" y="6583680"/>
            <a:ext cx="896112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500"/>
              </a:spcAft>
              <a:defRPr sz="750" b="0">
                <a:solidFill>
                  <a:srgbClr val="657789"/>
                </a:solidFill>
                <a:latin typeface="Aptos"/>
              </a:defRPr>
            </a:pPr>
            <a:r>
              <a:t>STUTTER SPEECH ASR + TTS | Educational demonstration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81360" y="6565392"/>
            <a:ext cx="731520" cy="18288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>
              <a:spcAft>
                <a:spcPts val="500"/>
              </a:spcAft>
              <a:defRPr sz="800" b="0">
                <a:solidFill>
                  <a:srgbClr val="657789"/>
                </a:solidFill>
                <a:latin typeface="Aptos"/>
              </a:defRPr>
            </a:pPr>
            <a:r>
              <a:t>14 / 15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325880"/>
            <a:ext cx="5212080" cy="4389120"/>
          </a:xfrm>
          <a:prstGeom prst="roundRect">
            <a:avLst>
              <a:gd name="adj" fmla="val 8000"/>
            </a:avLst>
          </a:prstGeom>
          <a:solidFill>
            <a:srgbClr val="142B45"/>
          </a:solidFill>
          <a:ln>
            <a:solidFill>
              <a:srgbClr val="142B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60120" y="1627632"/>
            <a:ext cx="4754880" cy="32004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500"/>
              </a:spcAft>
              <a:defRPr sz="1100" b="0">
                <a:solidFill>
                  <a:srgbClr val="D8E8F1"/>
                </a:solidFill>
                <a:latin typeface="Consolas"/>
              </a:defRPr>
            </a:pPr>
            <a:r>
              <a:t>Set-Location "D:\stutter project 191"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139696"/>
            <a:ext cx="4754880" cy="32004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500"/>
              </a:spcAft>
              <a:defRPr sz="1100" b="0">
                <a:solidFill>
                  <a:srgbClr val="D8E8F1"/>
                </a:solidFill>
                <a:latin typeface="Consolas"/>
              </a:defRPr>
            </a:pPr>
            <a:r>
              <a:t>$py = ".\.venv\Scripts\python.exe"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651760"/>
            <a:ext cx="4754880" cy="32004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500"/>
              </a:spcAft>
              <a:defRPr sz="1100" b="0">
                <a:solidFill>
                  <a:srgbClr val="D8E8F1"/>
                </a:solidFill>
                <a:latin typeface="Consolas"/>
              </a:defRPr>
            </a:pPr>
            <a:r>
              <a:t>&amp; $py main.py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163824"/>
            <a:ext cx="4754880" cy="32004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500"/>
              </a:spcAft>
              <a:defRPr sz="1100" b="0">
                <a:solidFill>
                  <a:srgbClr val="D8E8F1"/>
                </a:solidFill>
                <a:latin typeface="Consolas"/>
              </a:defRPr>
            </a:pPr>
            <a:r>
              <a:t>&amp; $py asr.py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675888"/>
            <a:ext cx="4754880" cy="32004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500"/>
              </a:spcAft>
              <a:defRPr sz="1100" b="0">
                <a:solidFill>
                  <a:srgbClr val="D8E8F1"/>
                </a:solidFill>
                <a:latin typeface="Consolas"/>
              </a:defRPr>
            </a:pPr>
            <a:r>
              <a:t>&amp; $py whisper_asr.py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4187952"/>
            <a:ext cx="4754880" cy="32004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500"/>
              </a:spcAft>
              <a:defRPr sz="1100" b="0">
                <a:solidFill>
                  <a:srgbClr val="D8E8F1"/>
                </a:solidFill>
                <a:latin typeface="Consolas"/>
              </a:defRPr>
            </a:pPr>
            <a:r>
              <a:t>&amp; $py wer.py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700016"/>
            <a:ext cx="4754880" cy="32004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500"/>
              </a:spcAft>
              <a:defRPr sz="1100" b="0">
                <a:solidFill>
                  <a:srgbClr val="D8E8F1"/>
                </a:solidFill>
                <a:latin typeface="Consolas"/>
              </a:defRPr>
            </a:pPr>
            <a:r>
              <a:t>.\tts.ps1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9360" y="1325880"/>
            <a:ext cx="5074920" cy="1280160"/>
          </a:xfrm>
          <a:prstGeom prst="roundRect">
            <a:avLst>
              <a:gd name="adj" fmla="val 8000"/>
            </a:avLst>
          </a:prstGeom>
          <a:solidFill>
            <a:srgbClr val="EEF5F8"/>
          </a:solidFill>
          <a:ln>
            <a:solidFill>
              <a:srgbClr val="D9E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309360" y="1435607"/>
            <a:ext cx="64008" cy="1060704"/>
          </a:xfrm>
          <a:prstGeom prst="rect">
            <a:avLst/>
          </a:prstGeom>
          <a:solidFill>
            <a:srgbClr val="2878A5"/>
          </a:solidFill>
          <a:ln>
            <a:solidFill>
              <a:srgbClr val="2878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510528" y="1472184"/>
            <a:ext cx="4690872" cy="38404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500"/>
              </a:spcAft>
              <a:defRPr sz="1500" b="1">
                <a:solidFill>
                  <a:srgbClr val="142B45"/>
                </a:solidFill>
                <a:latin typeface="Aptos"/>
              </a:defRPr>
            </a:pPr>
            <a:r>
              <a:t>Scripts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10528" y="1929384"/>
            <a:ext cx="4690872" cy="566927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500"/>
              </a:spcAft>
              <a:defRPr sz="1200" b="0">
                <a:solidFill>
                  <a:srgbClr val="213449"/>
                </a:solidFill>
                <a:latin typeface="Aptos"/>
              </a:defRPr>
            </a:pPr>
            <a:r>
              <a:t>main.py | asr.py | whisper_asr.py | wer.py | tts.ps1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309360" y="2834640"/>
            <a:ext cx="5074920" cy="1280160"/>
          </a:xfrm>
          <a:prstGeom prst="roundRect">
            <a:avLst>
              <a:gd name="adj" fmla="val 8000"/>
            </a:avLst>
          </a:prstGeom>
          <a:solidFill>
            <a:srgbClr val="EEF5F8"/>
          </a:solidFill>
          <a:ln>
            <a:solidFill>
              <a:srgbClr val="D9E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6309360" y="2944368"/>
            <a:ext cx="64008" cy="1060704"/>
          </a:xfrm>
          <a:prstGeom prst="rect">
            <a:avLst/>
          </a:prstGeom>
          <a:solidFill>
            <a:srgbClr val="48B8C5"/>
          </a:solidFill>
          <a:ln>
            <a:solidFill>
              <a:srgbClr val="48B8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510528" y="2980944"/>
            <a:ext cx="4690872" cy="38404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500"/>
              </a:spcAft>
              <a:defRPr sz="1500" b="1">
                <a:solidFill>
                  <a:srgbClr val="142B45"/>
                </a:solidFill>
                <a:latin typeface="Aptos"/>
              </a:defRPr>
            </a:pPr>
            <a:r>
              <a:t>Artifacts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10528" y="3438144"/>
            <a:ext cx="4690872" cy="566927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500"/>
              </a:spcAft>
              <a:defRPr sz="1200" b="0">
                <a:solidFill>
                  <a:srgbClr val="213449"/>
                </a:solidFill>
                <a:latin typeface="Aptos"/>
              </a:defRPr>
            </a:pPr>
            <a:r>
              <a:t>Waveform, log-Mel image, transcripts, WER CSV, synthesized WAV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309360" y="4343400"/>
            <a:ext cx="5074920" cy="1280160"/>
          </a:xfrm>
          <a:prstGeom prst="roundRect">
            <a:avLst>
              <a:gd name="adj" fmla="val 8000"/>
            </a:avLst>
          </a:prstGeom>
          <a:solidFill>
            <a:srgbClr val="EEF5F8"/>
          </a:solidFill>
          <a:ln>
            <a:solidFill>
              <a:srgbClr val="D9E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6309360" y="4453128"/>
            <a:ext cx="64008" cy="1060704"/>
          </a:xfrm>
          <a:prstGeom prst="rect">
            <a:avLst/>
          </a:prstGeom>
          <a:solidFill>
            <a:srgbClr val="79C8AE"/>
          </a:solidFill>
          <a:ln>
            <a:solidFill>
              <a:srgbClr val="79C8A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510528" y="4489704"/>
            <a:ext cx="4690872" cy="38404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500"/>
              </a:spcAft>
              <a:defRPr sz="1500" b="1">
                <a:solidFill>
                  <a:srgbClr val="142B45"/>
                </a:solidFill>
                <a:latin typeface="Aptos"/>
              </a:defRPr>
            </a:pPr>
            <a:r>
              <a:t>Reproducibility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10528" y="4946904"/>
            <a:ext cx="4690872" cy="566927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500"/>
              </a:spcAft>
              <a:defRPr sz="1200" b="0">
                <a:solidFill>
                  <a:srgbClr val="213449"/>
                </a:solidFill>
                <a:latin typeface="Aptos"/>
              </a:defRPr>
            </a:pPr>
            <a:r>
              <a:t>Use same audio and a human-verified reference; record model versions and settings.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8B8C5"/>
          </a:solidFill>
          <a:ln>
            <a:solidFill>
              <a:srgbClr val="48B8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30352" y="283464"/>
            <a:ext cx="10789920" cy="47548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500"/>
              </a:spcAft>
              <a:defRPr sz="2500" b="1">
                <a:solidFill>
                  <a:srgbClr val="142B45"/>
                </a:solidFill>
                <a:latin typeface="Aptos"/>
              </a:defRPr>
            </a:pPr>
            <a:r>
              <a:t>Takeaways and next 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57784" y="804672"/>
            <a:ext cx="10972800" cy="32004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500"/>
              </a:spcAft>
              <a:defRPr sz="1100" b="0">
                <a:solidFill>
                  <a:srgbClr val="657789"/>
                </a:solidFill>
                <a:latin typeface="Aptos"/>
              </a:defRPr>
            </a:pPr>
            <a:r>
              <a:t>A useful pipeline demonstration - with evaluation caveats made explicit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6528816"/>
            <a:ext cx="11109960" cy="10972"/>
          </a:xfrm>
          <a:prstGeom prst="rect">
            <a:avLst/>
          </a:prstGeom>
          <a:solidFill>
            <a:srgbClr val="D9E4EA"/>
          </a:solidFill>
          <a:ln>
            <a:solidFill>
              <a:srgbClr val="D9E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66928" y="6583680"/>
            <a:ext cx="896112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500"/>
              </a:spcAft>
              <a:defRPr sz="750" b="0">
                <a:solidFill>
                  <a:srgbClr val="657789"/>
                </a:solidFill>
                <a:latin typeface="Aptos"/>
              </a:defRPr>
            </a:pPr>
            <a:r>
              <a:t>STUTTER SPEECH ASR + TTS | Educational demonstration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81360" y="6565392"/>
            <a:ext cx="731520" cy="18288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>
              <a:spcAft>
                <a:spcPts val="500"/>
              </a:spcAft>
              <a:defRPr sz="800" b="0">
                <a:solidFill>
                  <a:srgbClr val="657789"/>
                </a:solidFill>
                <a:latin typeface="Aptos"/>
              </a:defRPr>
            </a:pPr>
            <a:r>
              <a:t>15 / 15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417320"/>
            <a:ext cx="3383280" cy="1417320"/>
          </a:xfrm>
          <a:prstGeom prst="roundRect">
            <a:avLst>
              <a:gd name="adj" fmla="val 8000"/>
            </a:avLst>
          </a:prstGeom>
          <a:solidFill>
            <a:srgbClr val="EEF5F8"/>
          </a:solidFill>
          <a:ln>
            <a:solidFill>
              <a:srgbClr val="D9E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731520" y="1527048"/>
            <a:ext cx="64008" cy="1197864"/>
          </a:xfrm>
          <a:prstGeom prst="rect">
            <a:avLst/>
          </a:prstGeom>
          <a:solidFill>
            <a:srgbClr val="2878A5"/>
          </a:solidFill>
          <a:ln>
            <a:solidFill>
              <a:srgbClr val="2878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32688" y="1563624"/>
            <a:ext cx="2999232" cy="38404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500"/>
              </a:spcAft>
              <a:defRPr sz="1500" b="1">
                <a:solidFill>
                  <a:srgbClr val="142B45"/>
                </a:solidFill>
                <a:latin typeface="Aptos"/>
              </a:defRPr>
            </a:pPr>
            <a:r>
              <a:t>What works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020824"/>
            <a:ext cx="2999232" cy="70408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500"/>
              </a:spcAft>
              <a:defRPr sz="1300" b="0">
                <a:solidFill>
                  <a:srgbClr val="213449"/>
                </a:solidFill>
                <a:latin typeface="Aptos"/>
              </a:defRPr>
            </a:pPr>
            <a:r>
              <a:t>Feature plots, two ASR paths, CTC explanation, WER, and TTS.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89120" y="1417320"/>
            <a:ext cx="3383280" cy="1417320"/>
          </a:xfrm>
          <a:prstGeom prst="roundRect">
            <a:avLst>
              <a:gd name="adj" fmla="val 8000"/>
            </a:avLst>
          </a:prstGeom>
          <a:solidFill>
            <a:srgbClr val="EEF5F8"/>
          </a:solidFill>
          <a:ln>
            <a:solidFill>
              <a:srgbClr val="D9E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4389120" y="1527048"/>
            <a:ext cx="64008" cy="1197864"/>
          </a:xfrm>
          <a:prstGeom prst="rect">
            <a:avLst/>
          </a:prstGeom>
          <a:solidFill>
            <a:srgbClr val="E97868"/>
          </a:solidFill>
          <a:ln>
            <a:solidFill>
              <a:srgbClr val="E978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590288" y="1563624"/>
            <a:ext cx="2999232" cy="38404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500"/>
              </a:spcAft>
              <a:defRPr sz="1500" b="1">
                <a:solidFill>
                  <a:srgbClr val="142B45"/>
                </a:solidFill>
                <a:latin typeface="Aptos"/>
              </a:defRPr>
            </a:pPr>
            <a:r>
              <a:t>What needs validation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90288" y="2020824"/>
            <a:ext cx="2999232" cy="70408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500"/>
              </a:spcAft>
              <a:defRPr sz="1300" b="0">
                <a:solidFill>
                  <a:srgbClr val="213449"/>
                </a:solidFill>
                <a:latin typeface="Aptos"/>
              </a:defRPr>
            </a:pPr>
            <a:r>
              <a:t>Reference transcript and the resulting accuracy comparison.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46720" y="1417320"/>
            <a:ext cx="3383280" cy="1417320"/>
          </a:xfrm>
          <a:prstGeom prst="roundRect">
            <a:avLst>
              <a:gd name="adj" fmla="val 8000"/>
            </a:avLst>
          </a:prstGeom>
          <a:solidFill>
            <a:srgbClr val="EEF5F8"/>
          </a:solidFill>
          <a:ln>
            <a:solidFill>
              <a:srgbClr val="D9E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8046720" y="1527048"/>
            <a:ext cx="64008" cy="1197864"/>
          </a:xfrm>
          <a:prstGeom prst="rect">
            <a:avLst/>
          </a:prstGeom>
          <a:solidFill>
            <a:srgbClr val="79C8AE"/>
          </a:solidFill>
          <a:ln>
            <a:solidFill>
              <a:srgbClr val="79C8A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247888" y="1563624"/>
            <a:ext cx="2999232" cy="38404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500"/>
              </a:spcAft>
              <a:defRPr sz="1500" b="1">
                <a:solidFill>
                  <a:srgbClr val="142B45"/>
                </a:solidFill>
                <a:latin typeface="Aptos"/>
              </a:defRPr>
            </a:pPr>
            <a:r>
              <a:t>What comes next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7888" y="2020824"/>
            <a:ext cx="2999232" cy="70408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500"/>
              </a:spcAft>
              <a:defRPr sz="1300" b="0">
                <a:solidFill>
                  <a:srgbClr val="213449"/>
                </a:solidFill>
                <a:latin typeface="Aptos"/>
              </a:defRPr>
            </a:pPr>
            <a:r>
              <a:t>Independent transcript review and broader recordings.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" y="3383280"/>
            <a:ext cx="10241280" cy="54864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Aft>
                <a:spcPts val="500"/>
              </a:spcAft>
              <a:defRPr sz="1600" b="1">
                <a:solidFill>
                  <a:srgbClr val="2878A5"/>
                </a:solidFill>
                <a:latin typeface="Aptos"/>
              </a:defRPr>
            </a:pPr>
            <a:r>
              <a:t>Bottom line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3886200"/>
            <a:ext cx="9966960" cy="9144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Aft>
                <a:spcPts val="500"/>
              </a:spcAft>
              <a:defRPr sz="2200" b="1">
                <a:solidFill>
                  <a:srgbClr val="142B45"/>
                </a:solidFill>
                <a:latin typeface="Aptos"/>
              </a:defRPr>
            </a:pPr>
            <a:r>
              <a:t>A complete speech pipeline is demonstrated. Reliable ASR conclusions require an independent, carefully annotated reference and evaluation beyond one sample.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" y="5257800"/>
            <a:ext cx="9966960" cy="6858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Aft>
                <a:spcPts val="500"/>
              </a:spcAft>
              <a:defRPr sz="1100" b="0">
                <a:solidFill>
                  <a:srgbClr val="657789"/>
                </a:solidFill>
                <a:latin typeface="Aptos"/>
              </a:defRPr>
            </a:pPr>
            <a:r>
              <a:t>Selected reading: Graves et al. (2006), CTC; Baevski et al. (2020), wav2vec 2.0; Radford et al. (2023), Whisper.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1368</Words>
  <Application>Microsoft Office PowerPoint</Application>
  <PresentationFormat>Widescreen</PresentationFormat>
  <Paragraphs>250</Paragraphs>
  <Slides>15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From Voice to Text and Back: ASR, CTC, WER and TTS</dc:title>
  <dc:subject>Professional project presentation</dc:subject>
  <dc:creator>Stutter Speech ASR and TTS project</dc:creator>
  <cp:keywords/>
  <dc:description>generated using python-pptx</dc:description>
  <cp:lastModifiedBy>Arijit Das</cp:lastModifiedBy>
  <cp:revision>4</cp:revision>
  <dcterms:created xsi:type="dcterms:W3CDTF">2013-01-27T09:14:16Z</dcterms:created>
  <dcterms:modified xsi:type="dcterms:W3CDTF">2026-10-13T14:03:26Z</dcterms:modified>
  <cp:category/>
</cp:coreProperties>
</file>