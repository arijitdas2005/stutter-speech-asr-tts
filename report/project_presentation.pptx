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316467" y="41005"/>
            <a:ext cx="3758184" cy="3708033"/>
          </a:xfrm>
          <a:prstGeom prst="ellipse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986265" y="128016"/>
            <a:ext cx="2926080" cy="2926080"/>
          </a:xfrm>
          <a:prstGeom prst="ellipse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73152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79C8AE"/>
                </a:solidFill>
                <a:latin typeface="Aptos"/>
              </a:defRPr>
            </a:pPr>
            <a:r>
              <a:t>SPEECH TECHNOLOGY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39" y="882396"/>
            <a:ext cx="6217450" cy="11844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rPr dirty="0"/>
              <a:t>From Voice to Text</a:t>
            </a:r>
          </a:p>
          <a:p>
            <a:pPr algn="l">
              <a:spcAft>
                <a:spcPts val="5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rPr dirty="0"/>
              <a:t>and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57"/>
            <a:ext cx="7955279" cy="226933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D8E8F1"/>
                </a:solidFill>
                <a:latin typeface="Aptos"/>
              </a:defRPr>
            </a:pPr>
            <a:r>
              <a:rPr dirty="0"/>
              <a:t>ASR, CTC, WER and text-to-speech analysis</a:t>
            </a:r>
          </a:p>
          <a:p>
            <a:pPr algn="l">
              <a:spcAft>
                <a:spcPts val="500"/>
              </a:spcAft>
              <a:defRPr sz="1800" b="0">
                <a:solidFill>
                  <a:srgbClr val="D8E8F1"/>
                </a:solidFill>
                <a:latin typeface="Aptos"/>
              </a:defRPr>
            </a:pPr>
            <a:r>
              <a:rPr dirty="0"/>
              <a:t>of a speech sample with disfluencies</a:t>
            </a:r>
            <a:endParaRPr lang="en-IN" dirty="0"/>
          </a:p>
          <a:p>
            <a:pPr algn="l">
              <a:spcAft>
                <a:spcPts val="500"/>
              </a:spcAft>
              <a:defRPr sz="1800" b="0">
                <a:solidFill>
                  <a:srgbClr val="D8E8F1"/>
                </a:solidFill>
                <a:latin typeface="Aptos"/>
              </a:defRPr>
            </a:pPr>
            <a:endParaRPr lang="en-IN" dirty="0"/>
          </a:p>
          <a:p>
            <a:pPr algn="l">
              <a:spcAft>
                <a:spcPts val="500"/>
              </a:spcAft>
              <a:defRPr sz="1800" b="0">
                <a:solidFill>
                  <a:srgbClr val="D8E8F1"/>
                </a:solidFill>
                <a:latin typeface="Aptos"/>
              </a:defRPr>
            </a:pPr>
            <a:r>
              <a:rPr lang="en-IN" dirty="0"/>
              <a:t>Presented By :</a:t>
            </a:r>
          </a:p>
          <a:p>
            <a:pPr>
              <a:spcAft>
                <a:spcPts val="500"/>
              </a:spcAft>
              <a:defRPr sz="1800" b="0">
                <a:solidFill>
                  <a:srgbClr val="D8E8F1"/>
                </a:solidFill>
                <a:latin typeface="Aptos"/>
              </a:defRPr>
            </a:pPr>
            <a:r>
              <a:rPr lang="en-IN" dirty="0">
                <a:solidFill>
                  <a:srgbClr val="D8E8F1"/>
                </a:solidFill>
                <a:latin typeface="Aptos"/>
              </a:rPr>
              <a:t>Arijit Das [RA2311003010191]</a:t>
            </a:r>
            <a:br>
              <a:rPr lang="en-IN" dirty="0">
                <a:solidFill>
                  <a:srgbClr val="D8E8F1"/>
                </a:solidFill>
                <a:latin typeface="Aptos"/>
              </a:rPr>
            </a:br>
            <a:r>
              <a:rPr lang="en-IN" dirty="0">
                <a:solidFill>
                  <a:srgbClr val="D8E8F1"/>
                </a:solidFill>
                <a:latin typeface="Aptos"/>
              </a:rPr>
              <a:t>Spandan </a:t>
            </a:r>
            <a:r>
              <a:rPr lang="en-IN" dirty="0" err="1">
                <a:solidFill>
                  <a:srgbClr val="D8E8F1"/>
                </a:solidFill>
                <a:latin typeface="Aptos"/>
              </a:rPr>
              <a:t>Duari</a:t>
            </a:r>
            <a:r>
              <a:rPr lang="en-IN" dirty="0">
                <a:solidFill>
                  <a:srgbClr val="D8E8F1"/>
                </a:solidFill>
                <a:latin typeface="Aptos"/>
              </a:rPr>
              <a:t> [RA2311003010207]</a:t>
            </a:r>
            <a:br>
              <a:rPr lang="en-IN" dirty="0">
                <a:solidFill>
                  <a:srgbClr val="D8E8F1"/>
                </a:solidFill>
                <a:latin typeface="Aptos"/>
              </a:rPr>
            </a:br>
            <a:r>
              <a:rPr lang="en-IN" dirty="0" err="1">
                <a:solidFill>
                  <a:srgbClr val="D8E8F1"/>
                </a:solidFill>
                <a:latin typeface="Aptos"/>
              </a:rPr>
              <a:t>Sarabesh</a:t>
            </a:r>
            <a:r>
              <a:rPr lang="en-IN" dirty="0">
                <a:solidFill>
                  <a:srgbClr val="D8E8F1"/>
                </a:solidFill>
                <a:latin typeface="Aptos"/>
              </a:rPr>
              <a:t> R [RA2311003010305]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681227" y="4645011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" y="4827892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Speech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" y="5166220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MP3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1195" y="4946764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22091" y="4645011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3531" y="4827892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3531" y="5166220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Waveform + Mel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52059" y="4946764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62955" y="4645011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54395" y="4827892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ASR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54395" y="5166220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2 alternatives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92923" y="4946764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3819" y="4645011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95259" y="4827892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5259" y="5166220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CTC / WER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3787" y="4946764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44683" y="4645011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136123" y="4827892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36123" y="5166220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Synthesized audio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87569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FFFFFF"/>
                </a:solidFill>
                <a:latin typeface="Aptos"/>
              </a:defRPr>
            </a:pPr>
            <a:r>
              <a:rPr dirty="0"/>
              <a:t>140.35-second English sample  |  Wav2Vec2 + Whisper  |  TTS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144768"/>
            <a:ext cx="82296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D8E8F1"/>
                </a:solidFill>
                <a:latin typeface="Aptos"/>
              </a:defRPr>
            </a:pPr>
            <a:r>
              <a:t>Educational demonstration - not a clinical assessment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47104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D8E8F1"/>
                </a:solidFill>
                <a:latin typeface="Aptos"/>
              </a:defRPr>
            </a:pPr>
            <a: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The project in one minute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A complete speech-to-text-to-speech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02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Speech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MP3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8" y="190195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35224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26664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Waveform + Mel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5192" y="190195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6088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67528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ASR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7528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2 alternatives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6056" y="190195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16952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08392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8392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CTC / 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190195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57816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49256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9256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Synthesized audio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24612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3355848"/>
            <a:ext cx="64008" cy="142646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1247" y="3392424"/>
            <a:ext cx="2267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Analyze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" y="3849624"/>
            <a:ext cx="2267712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Inspect amplitude and frequency structure.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20439" y="324612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520439" y="3355848"/>
            <a:ext cx="64008" cy="142646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721607" y="3392424"/>
            <a:ext cx="2267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Recognize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21607" y="3849624"/>
            <a:ext cx="2267712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Compare CTC-based Wav2Vec2 with Whisper.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24612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00800" y="3355848"/>
            <a:ext cx="64008" cy="142646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01968" y="3392424"/>
            <a:ext cx="2267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3849624"/>
            <a:ext cx="2267712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Compute edit counts and word error rate.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81159" y="324612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281159" y="3355848"/>
            <a:ext cx="64008" cy="1426464"/>
          </a:xfrm>
          <a:prstGeom prst="rect">
            <a:avLst/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482328" y="3392424"/>
            <a:ext cx="2267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Synthesize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82328" y="3849624"/>
            <a:ext cx="2267712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Speak the selected transcript back as audio.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5303520"/>
            <a:ext cx="1078992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Provisional agreement vs. Whisper reference: Wav2Vec2 39.13%; Whisper 0.00%. These are not accuracy scores.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Input recording and experiment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What was analyzed - and what the numbers represent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03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527048"/>
            <a:ext cx="64008" cy="115214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Recording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20824"/>
            <a:ext cx="2999232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audio/stutter_current.mp3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140.35 seconds | 48,000 Hz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17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1527048"/>
            <a:ext cx="64008" cy="115214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028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Processing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020824"/>
            <a:ext cx="2999232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Mono analysis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Wav2Vec2 resampled to 16 kHz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417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527048"/>
            <a:ext cx="64008" cy="115214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3932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2020824"/>
            <a:ext cx="2999232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One English speech sample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Educational pipeline demonstration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337560"/>
            <a:ext cx="1069848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Research question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94760"/>
            <a:ext cx="10241280" cy="7772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200" b="1">
                <a:solidFill>
                  <a:srgbClr val="142B45"/>
                </a:solidFill>
                <a:latin typeface="Aptos"/>
              </a:defRPr>
            </a:pPr>
            <a:r>
              <a:t>How do two popular ASR approaches transcribe the same disfluent speech sample, and how can their word-level differences be measured?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010912"/>
            <a:ext cx="10698480" cy="82296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solidFill>
              <a:srgbClr val="D6A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60"/>
            <a:ext cx="10332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This single-sample exercise cannot diagnose a speaker or generalize model accuracy. WER depends on a verified reference transcript.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1 | Inspect the waveform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Amplitude and pauses over the recording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04 / 15</a:t>
            </a:r>
          </a:p>
        </p:txBody>
      </p:sp>
      <p:pic>
        <p:nvPicPr>
          <p:cNvPr id="8" name="Picture 7" descr="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545410"/>
            <a:ext cx="10698480" cy="37671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650992"/>
            <a:ext cx="106070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Waveform is useful for locating activity and pauses. It does not reveal the words or diagnose a fluency disorder by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2 | Transform audio into log-Mel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Short-time spectral energy represented on a perceptual frequency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05 / 15</a:t>
            </a:r>
          </a:p>
        </p:txBody>
      </p:sp>
      <p:pic>
        <p:nvPicPr>
          <p:cNvPr id="8" name="Picture 7" descr="log_mel_spect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524" y="1298448"/>
            <a:ext cx="8614470" cy="39776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" y="5349240"/>
            <a:ext cx="3337560" cy="7315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" y="5458968"/>
            <a:ext cx="64008" cy="51206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8" y="5495544"/>
            <a:ext cx="29535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Mel bands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5952744"/>
            <a:ext cx="2953512" cy="182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213449"/>
                </a:solidFill>
                <a:latin typeface="Aptos"/>
              </a:defRPr>
            </a:pPr>
            <a:r>
              <a:t>128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5349240"/>
            <a:ext cx="3337560" cy="7315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34840" y="5458968"/>
            <a:ext cx="64008" cy="51206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6007" y="5495544"/>
            <a:ext cx="29535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FFT / 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5952744"/>
            <a:ext cx="2953512" cy="182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213449"/>
                </a:solidFill>
                <a:latin typeface="Aptos"/>
              </a:defRPr>
            </a:pPr>
            <a:r>
              <a:t>2048 / 512 samples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5349240"/>
            <a:ext cx="3337560" cy="7315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5458968"/>
            <a:ext cx="64008" cy="51206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47888" y="5495544"/>
            <a:ext cx="29535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5952744"/>
            <a:ext cx="2953512" cy="182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213449"/>
                </a:solidFill>
                <a:latin typeface="Aptos"/>
              </a:defRPr>
            </a:pPr>
            <a:r>
              <a:t>Power converted to 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3 | Two ASR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Parallel alternatives; not a single serial recognizer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06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2926080"/>
            <a:ext cx="14173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Speech</a:t>
            </a:r>
          </a:p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MP3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150876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91840" y="1719072"/>
            <a:ext cx="269748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Wav2Vec2 encoder</a:t>
            </a:r>
          </a:p>
          <a:p>
            <a:pPr algn="ctr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waveform -&gt; character logits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508760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solidFill>
              <a:srgbClr val="F2B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1719072"/>
            <a:ext cx="178308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CTC collapse</a:t>
            </a:r>
          </a:p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repeat + blank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384048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91840" y="4050791"/>
            <a:ext cx="269748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Whisper encoder</a:t>
            </a:r>
          </a:p>
          <a:p>
            <a:pPr algn="ctr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log-Mel audio features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840480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29400" y="4050791"/>
            <a:ext cx="178308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Text decoder</a:t>
            </a:r>
          </a:p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autoregressive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74320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18320" y="2944368"/>
            <a:ext cx="1828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Text -&gt; WER -&gt; TTS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286000" y="2084831"/>
            <a:ext cx="868680" cy="978409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286000" y="3246120"/>
            <a:ext cx="868680" cy="1143000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26480" y="2084831"/>
            <a:ext cx="365760" cy="0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49640" y="2084831"/>
            <a:ext cx="731520" cy="886969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26480" y="4389120"/>
            <a:ext cx="365760" cy="0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549640" y="3429000"/>
            <a:ext cx="731520" cy="960120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49808" y="5486400"/>
            <a:ext cx="1060704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E97868"/>
                </a:solidFill>
                <a:latin typeface="Aptos"/>
              </a:defRPr>
            </a:pPr>
            <a:r>
              <a:t>Important: Whisper is not a CTC model. The Wav2Vec2 branch is the one decoded with CTC.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4 | Wav2Vec2 with CTC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facebook/wav2vec2-base-960h - greedy token decoding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07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17320"/>
            <a:ext cx="3291840" cy="132588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527048"/>
            <a:ext cx="64008" cy="110642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563624"/>
            <a:ext cx="290779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20824"/>
            <a:ext cx="2907792" cy="61264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Mono waveform resampled to 16 kHz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417320"/>
            <a:ext cx="3291840" cy="132588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1527048"/>
            <a:ext cx="64008" cy="110642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7" y="1563624"/>
            <a:ext cx="290779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Acoustic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020824"/>
            <a:ext cx="2907792" cy="61264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Convolutional features + Transformer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417320"/>
            <a:ext cx="3291840" cy="132588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527048"/>
            <a:ext cx="64008" cy="110642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39328" y="1563624"/>
            <a:ext cx="290779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Decoder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2020824"/>
            <a:ext cx="2907792" cy="61264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Frame-wise argmax + CTC batch decode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200400"/>
            <a:ext cx="10698480" cy="192024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3310128"/>
            <a:ext cx="64008" cy="170078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2688" y="3346704"/>
            <a:ext cx="103144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Transcript excerpt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803904"/>
            <a:ext cx="10314432" cy="12070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M  M M M M MA MA MY NAME IS MAX AND AM TO DAY I RECEIVED AN EMALE FROM TEA AM LIKE TO TO DAY I RECEIVED AN EMALE FROM THE MANAGER OF AN OFFICE I'M APPLYING TO AND IMSPICHIAM TAM SHE ASKED ME IF I WANTED TO SCHEDULE AN INTERVIEW OVER THE PHONE AND I HAD TO A M I HAD TOAM III HAD TO A RESPOND TO HER AND REQUEST THAT WE HOLD IT AT AND ND AND...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94960"/>
            <a:ext cx="106984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57789"/>
                </a:solidFill>
                <a:latin typeface="Aptos"/>
              </a:defRPr>
            </a:pPr>
            <a:r>
              <a:t>Observed transcription contains substitutions and extra tokens; confirm errors against audio rather than assuming the reference is correct.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5 | CTC: align without frame-level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Collapse adjacent repeats first, then remove blank tokens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08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417320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508760"/>
            <a:ext cx="228600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42B45"/>
                </a:solidFill>
                <a:latin typeface="Aptos"/>
              </a:defRPr>
            </a:pPr>
            <a:r>
              <a:t>Frame predictions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527048"/>
            <a:ext cx="7498079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13449"/>
                </a:solidFill>
                <a:latin typeface="Consolas"/>
              </a:defRPr>
            </a:pPr>
            <a:r>
              <a:t>blank | A | A | blank | A | B | B | blank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377440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78992" y="2468880"/>
            <a:ext cx="228600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42B45"/>
                </a:solidFill>
                <a:latin typeface="Aptos"/>
              </a:defRPr>
            </a:pPr>
            <a:r>
              <a:t>Merge adjacent repeats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487168"/>
            <a:ext cx="7498079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13449"/>
                </a:solidFill>
                <a:latin typeface="Consolas"/>
              </a:defRPr>
            </a:pPr>
            <a:r>
              <a:t>blank | A | blank | A | B | blank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337560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429000"/>
            <a:ext cx="228600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42B45"/>
                </a:solidFill>
                <a:latin typeface="Aptos"/>
              </a:defRPr>
            </a:pPr>
            <a:r>
              <a:t>Remove blanks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3447288"/>
            <a:ext cx="7498079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13449"/>
                </a:solidFill>
                <a:latin typeface="Consolas"/>
              </a:defRPr>
            </a:pPr>
            <a:r>
              <a:t>A | A | 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297680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" y="4389120"/>
            <a:ext cx="228600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42B45"/>
                </a:solidFill>
                <a:latin typeface="Aptos"/>
              </a:defRPr>
            </a:pPr>
            <a:r>
              <a:t>Decoded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4407408"/>
            <a:ext cx="7498079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13449"/>
                </a:solidFill>
                <a:latin typeface="Consolas"/>
              </a:defRPr>
            </a:pPr>
            <a:r>
              <a:t>AAB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532120"/>
            <a:ext cx="10424160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A, blank, A -&gt; AA; adjacent A, A -&gt; A. The blank preserves repeated letters when separated.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6 | Whisper-base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Encoder-decoder ASR with autoregressive text token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09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1527048"/>
            <a:ext cx="64008" cy="101498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" y="1563624"/>
            <a:ext cx="28620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Audio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020824"/>
            <a:ext cx="2862072" cy="5212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Whisper extracts log-Mel features internally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41732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80560" y="1527048"/>
            <a:ext cx="64008" cy="101498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81728" y="1563624"/>
            <a:ext cx="28620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020824"/>
            <a:ext cx="2862072" cy="5212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faster-whisper base; CPU int8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527048"/>
            <a:ext cx="64008" cy="101498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5048" y="1563624"/>
            <a:ext cx="28620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Decoding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020824"/>
            <a:ext cx="2862072" cy="5212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English hint; beam size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063240"/>
            <a:ext cx="10652760" cy="21031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3172968"/>
            <a:ext cx="64008" cy="1883663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8" y="3209544"/>
            <a:ext cx="10268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Transcript excerpt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3666744"/>
            <a:ext cx="10268712" cy="13898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13449"/>
                </a:solidFill>
                <a:latin typeface="Aptos"/>
              </a:defRPr>
            </a:pPr>
            <a:r>
              <a:t>My name is Max and today I received an email from the, I'm like to, today I received an email from the manager of an office I'm applying to and she asked me if I wanted to schedule an interview over the phone and I had to, I had to, I, I, I had to respond to her and request that we hold and and and and request that we hold an in person interview Um, I can, um, be a cousin, um, like it's 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394960"/>
            <a:ext cx="1042416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57789"/>
                </a:solidFill>
                <a:latin typeface="Aptos"/>
              </a:defRPr>
            </a:pPr>
            <a:r>
              <a:t>Fluent wording is not proof of verbatim transcription. The recognizer may normalize or omit disfluencies.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7 | Evaluation with word error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Word-level edit distance relative to a reference transcript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10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17320"/>
            <a:ext cx="10561320" cy="96012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1618488"/>
            <a:ext cx="987552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2300" b="1">
                <a:solidFill>
                  <a:srgbClr val="142B45"/>
                </a:solidFill>
                <a:latin typeface="Aptos"/>
              </a:defRPr>
            </a:pPr>
            <a:r>
              <a:t>WER = (Substitutions + Deletions + Insertions) / Reference 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68680" y="3081528"/>
            <a:ext cx="64008" cy="96926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9848" y="3118104"/>
            <a:ext cx="20848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Reference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3575304"/>
            <a:ext cx="2084832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115 words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297180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703320" y="3081528"/>
            <a:ext cx="64008" cy="96926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04487" y="3118104"/>
            <a:ext cx="20848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Normalize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4487" y="3575304"/>
            <a:ext cx="2084832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case / punctuation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97180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37960" y="3081528"/>
            <a:ext cx="64008" cy="96926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39128" y="3118104"/>
            <a:ext cx="20848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Align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3575304"/>
            <a:ext cx="2084832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JiWER operations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72600" y="297180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372600" y="3081528"/>
            <a:ext cx="64008" cy="969264"/>
          </a:xfrm>
          <a:prstGeom prst="rect">
            <a:avLst/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73768" y="3118104"/>
            <a:ext cx="20848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73768" y="3575304"/>
            <a:ext cx="2084832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S, D, 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709160"/>
            <a:ext cx="10561320" cy="86868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solidFill>
              <a:srgbClr val="D6A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1014984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13449"/>
                </a:solidFill>
                <a:latin typeface="Aptos"/>
              </a:defRPr>
            </a:pPr>
            <a:r>
              <a:t>Current reference is a Whisper copy and is unverified; treat the scores as agreement, not accuracy.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8 | Results on the current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One sample; current reference transcript is provisional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11 / 15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783080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21024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483864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20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21808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184648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40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22592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85431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60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23376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586216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80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424160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87000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697479"/>
            <a:ext cx="12344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13449"/>
                </a:solidFill>
                <a:latin typeface="Aptos"/>
              </a:defRPr>
            </a:pPr>
            <a:r>
              <a:t>Wav2Vec2 CTC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0240" y="2679191"/>
            <a:ext cx="3327620" cy="365760"/>
          </a:xfrm>
          <a:prstGeom prst="roundRect">
            <a:avLst>
              <a:gd name="adj" fmla="val 8000"/>
            </a:avLst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57588" y="2724911"/>
            <a:ext cx="1097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142B45"/>
                </a:solidFill>
                <a:latin typeface="Aptos"/>
              </a:defRPr>
            </a:pPr>
            <a:r>
              <a:t>39.13%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355848"/>
            <a:ext cx="12344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13449"/>
                </a:solidFill>
                <a:latin typeface="Aptos"/>
              </a:defRPr>
            </a:pPr>
            <a:r>
              <a:t>Whisper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20240" y="3337560"/>
            <a:ext cx="73152" cy="365760"/>
          </a:xfrm>
          <a:prstGeom prst="roundRect">
            <a:avLst>
              <a:gd name="adj" fmla="val 8000"/>
            </a:avLst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103120" y="3383279"/>
            <a:ext cx="1097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142B45"/>
                </a:solidFill>
                <a:latin typeface="Aptos"/>
              </a:defRPr>
            </a:pPr>
            <a:r>
              <a:t>0.00%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297679"/>
            <a:ext cx="85039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WER (%) - lower is better only when the reference is trustworthy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31520" y="4709160"/>
          <a:ext cx="1069847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Model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Hits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Sub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Del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Ins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Words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WER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Wav2Vec2 CTC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85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24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15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115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39.13%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Whisper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115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115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0.00%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9 | Critical evaluation caveat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Whisper transcript is used as the provisional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12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17320"/>
            <a:ext cx="52120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527048"/>
            <a:ext cx="64008" cy="1197864"/>
          </a:xfrm>
          <a:prstGeom prst="rect">
            <a:avLst/>
          </a:prstGeom>
          <a:solidFill>
            <a:srgbClr val="F2B84B"/>
          </a:solidFill>
          <a:ln>
            <a:solidFill>
              <a:srgbClr val="F2B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563624"/>
            <a:ext cx="48280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Current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20824"/>
            <a:ext cx="48280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115 words; copied from Whisper, not independently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2120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527048"/>
            <a:ext cx="64008" cy="1197864"/>
          </a:xfrm>
          <a:prstGeom prst="rect">
            <a:avLst/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19088" y="1563624"/>
            <a:ext cx="48280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Whisper hypothesis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20824"/>
            <a:ext cx="48280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Matches the reference by construction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46120"/>
            <a:ext cx="1042416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2400" b="1">
                <a:solidFill>
                  <a:srgbClr val="E97868"/>
                </a:solidFill>
                <a:latin typeface="Aptos"/>
              </a:defRPr>
            </a:pPr>
            <a:r>
              <a:t>Whisper's 0.00% is not a fair accuracy benchmark.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005072"/>
            <a:ext cx="10149840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800" b="0">
                <a:solidFill>
                  <a:srgbClr val="142B45"/>
                </a:solidFill>
                <a:latin typeface="Aptos"/>
              </a:defRPr>
            </a:pPr>
            <a:r>
              <a:t>Wav2Vec2's 39.13% measures disagreement with Whisper, not verified error. Prepare a verbatim transcript independently, then recalculate both scores.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23560"/>
            <a:ext cx="104241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657789"/>
                </a:solidFill>
                <a:latin typeface="Aptos"/>
              </a:defRPr>
            </a:pPr>
            <a:r>
              <a:t>These results describe one example only; do not infer general model superiority.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10 | Text-to-speech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Convert a recognized transcript back into an audio signal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13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Whisper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recognized 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8" y="203911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35224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26664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TTS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Windows SAPI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5192" y="203911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6088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67528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WAV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7528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PCM audio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6056" y="203911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16952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08392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Listen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8392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quality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03911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57816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49256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Caution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9256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synthetic voice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3246120"/>
            <a:ext cx="5029200" cy="15087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2960" y="3355848"/>
            <a:ext cx="64008" cy="128930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24128" y="3392424"/>
            <a:ext cx="464515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Generated artifact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3849624"/>
            <a:ext cx="4645152" cy="7955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outputs/tts_output.wav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37.6 seconds | 22,050 Hz | mono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3246120"/>
            <a:ext cx="5029200" cy="15087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63640" y="3355848"/>
            <a:ext cx="64008" cy="128930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64807" y="3392424"/>
            <a:ext cx="464515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4807" y="3849624"/>
            <a:ext cx="4645152" cy="7955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Synthetic speech of the transcript; it does not recreate the original speaker or their disfluencies.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303520"/>
            <a:ext cx="104241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57789"/>
                </a:solidFill>
                <a:latin typeface="Aptos"/>
              </a:defRPr>
            </a:pPr>
            <a:r>
              <a:t>The notebook includes an optional gTTS alternative; it requires an internet connection.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11 | Reproducible run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Repository scripts and generated artifacts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14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5212080" cy="4389120"/>
          </a:xfrm>
          <a:prstGeom prst="roundRect">
            <a:avLst>
              <a:gd name="adj" fmla="val 8000"/>
            </a:avLst>
          </a:prstGeom>
          <a:solidFill>
            <a:srgbClr val="142B45"/>
          </a:solidFill>
          <a:ln>
            <a:solidFill>
              <a:srgbClr val="14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627632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Set-Location "D:\stutter project 191"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39696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$py = ".\.venv\Scripts\python.exe"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51760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&amp; $py main.py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63824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&amp; $py asr.py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75888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&amp; $py whisper_asr.py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87952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&amp; $py wer.py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00016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.\tts.ps1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325880"/>
            <a:ext cx="5074920" cy="12801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435607"/>
            <a:ext cx="64008" cy="106070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1472184"/>
            <a:ext cx="46908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Scripts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1929384"/>
            <a:ext cx="4690872" cy="5669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main.py | asr.py | whisper_asr.py | wer.py | tts.ps1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834640"/>
            <a:ext cx="5074920" cy="12801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09360" y="2944368"/>
            <a:ext cx="64008" cy="106070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8" y="2980944"/>
            <a:ext cx="46908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Artifacts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3438144"/>
            <a:ext cx="4690872" cy="5669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Waveform, log-Mel image, transcripts, WER CSV, synthesized WAV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343400"/>
            <a:ext cx="5074920" cy="12801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09360" y="4453128"/>
            <a:ext cx="64008" cy="106070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10528" y="4489704"/>
            <a:ext cx="46908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Reproducibility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4946904"/>
            <a:ext cx="4690872" cy="5669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Use same audio and a human-verified reference; record model versions and settings.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Takeaways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A useful pipeline demonstration - with evaluation caveats made explicit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15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1732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527048"/>
            <a:ext cx="64008" cy="119786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What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20824"/>
            <a:ext cx="29992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Feature plots, two ASR paths, CTC explanation, provisional comparison, and TTS.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1732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1527048"/>
            <a:ext cx="64008" cy="1197864"/>
          </a:xfrm>
          <a:prstGeom prst="rect">
            <a:avLst/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028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What needs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020824"/>
            <a:ext cx="29992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Reference transcript and the resulting accuracy comparison.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41732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46720" y="1527048"/>
            <a:ext cx="64008" cy="119786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4788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What comes 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020824"/>
            <a:ext cx="29992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Independent transcript review and broader recordings.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383280"/>
            <a:ext cx="102412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Bottom 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886200"/>
            <a:ext cx="996696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2200" b="1">
                <a:solidFill>
                  <a:srgbClr val="142B45"/>
                </a:solidFill>
                <a:latin typeface="Aptos"/>
              </a:defRPr>
            </a:pPr>
            <a:r>
              <a:t>A complete speech pipeline is demonstrated. Reliable ASR conclusions require an independent, carefully annotated reference and evaluation beyond one sample.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99669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Selected reading: Graves et al. (2006), CTC; Baevski et al. (2020), wav2vec 2.0; Radford et al. (2023), Whisper.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1397</Words>
  <Application>Microsoft Office PowerPoint</Application>
  <PresentationFormat>Widescreen</PresentationFormat>
  <Paragraphs>253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Voice to Text and Back: ASR, CTC, WER and TTS</dc:title>
  <dc:subject>Professional project presentation</dc:subject>
  <dc:creator>Stutter Speech ASR and TTS project</dc:creator>
  <cp:keywords/>
  <dc:description>generated using python-pptx</dc:description>
  <cp:lastModifiedBy>Arijit Das</cp:lastModifiedBy>
  <cp:revision>2</cp:revision>
  <dcterms:created xsi:type="dcterms:W3CDTF">2013-01-27T09:14:16Z</dcterms:created>
  <dcterms:modified xsi:type="dcterms:W3CDTF">2026-10-15T03:40:28Z</dcterms:modified>
  <cp:category/>
</cp:coreProperties>
</file>