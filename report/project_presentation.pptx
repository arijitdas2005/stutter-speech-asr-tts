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110728" y="9144"/>
            <a:ext cx="3593592" cy="3858768"/>
          </a:xfrm>
          <a:prstGeom prst="ellipse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494776" y="306325"/>
            <a:ext cx="2926080" cy="2926080"/>
          </a:xfrm>
          <a:prstGeom prst="ellipse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73152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79C8AE"/>
                </a:solidFill>
                <a:latin typeface="Aptos"/>
              </a:defRPr>
            </a:pPr>
            <a:r>
              <a:t>SPEECH TECHNOLOGY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144" y="1069848"/>
            <a:ext cx="9418320" cy="1234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rPr dirty="0"/>
              <a:t>From Voice to Text</a:t>
            </a:r>
          </a:p>
          <a:p>
            <a:pPr algn="l">
              <a:spcAft>
                <a:spcPts val="5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rPr dirty="0"/>
              <a:t>and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144" y="2281429"/>
            <a:ext cx="7955279" cy="20564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D8E8F1"/>
                </a:solidFill>
                <a:latin typeface="Aptos"/>
              </a:defRPr>
            </a:pPr>
            <a:r>
              <a:rPr dirty="0"/>
              <a:t>ASR, CTC, WER and text-to-speech analysis</a:t>
            </a:r>
          </a:p>
          <a:p>
            <a:pPr algn="l">
              <a:spcAft>
                <a:spcPts val="500"/>
              </a:spcAft>
              <a:defRPr sz="1800" b="0">
                <a:solidFill>
                  <a:srgbClr val="D8E8F1"/>
                </a:solidFill>
                <a:latin typeface="Aptos"/>
              </a:defRPr>
            </a:pPr>
            <a:r>
              <a:rPr dirty="0"/>
              <a:t>of a speech sample with disfluencies</a:t>
            </a:r>
            <a:endParaRPr lang="en-IN" dirty="0"/>
          </a:p>
          <a:p>
            <a:pPr algn="l">
              <a:spcAft>
                <a:spcPts val="500"/>
              </a:spcAft>
              <a:defRPr sz="1800" b="0">
                <a:solidFill>
                  <a:srgbClr val="D8E8F1"/>
                </a:solidFill>
                <a:latin typeface="Aptos"/>
              </a:defRPr>
            </a:pPr>
            <a:endParaRPr lang="en-IN" dirty="0"/>
          </a:p>
          <a:p>
            <a:pPr algn="l">
              <a:spcAft>
                <a:spcPts val="500"/>
              </a:spcAft>
              <a:defRPr sz="1800" b="0">
                <a:solidFill>
                  <a:srgbClr val="D8E8F1"/>
                </a:solidFill>
                <a:latin typeface="Aptos"/>
              </a:defRPr>
            </a:pPr>
            <a:r>
              <a:rPr lang="en-IN" dirty="0"/>
              <a:t>Presented by ;</a:t>
            </a:r>
          </a:p>
          <a:p>
            <a:pPr algn="l">
              <a:spcAft>
                <a:spcPts val="500"/>
              </a:spcAft>
              <a:defRPr sz="1800" b="0">
                <a:solidFill>
                  <a:srgbClr val="D8E8F1"/>
                </a:solidFill>
                <a:latin typeface="Aptos"/>
              </a:defRPr>
            </a:pPr>
            <a:r>
              <a:rPr lang="en-IN" dirty="0"/>
              <a:t>Arijit Das [RA2311003010191]</a:t>
            </a:r>
          </a:p>
          <a:p>
            <a:pPr algn="l">
              <a:spcAft>
                <a:spcPts val="500"/>
              </a:spcAft>
              <a:defRPr sz="1800" b="0">
                <a:solidFill>
                  <a:srgbClr val="D8E8F1"/>
                </a:solidFill>
                <a:latin typeface="Aptos"/>
              </a:defRPr>
            </a:pPr>
            <a:r>
              <a:rPr lang="en-IN" dirty="0"/>
              <a:t>Spandan </a:t>
            </a:r>
            <a:r>
              <a:rPr lang="en-IN" dirty="0" err="1"/>
              <a:t>Duari</a:t>
            </a:r>
            <a:r>
              <a:rPr lang="en-IN"/>
              <a:t> [RA2311003010207]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411480" y="4594862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4777743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Speech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116071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MP3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896615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52344" y="4594862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43784" y="4777743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43784" y="5116071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Waveform + Mel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4896615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3208" y="4594862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84648" y="4777743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ASR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4648" y="5116071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2 alternatives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23176" y="4896615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34072" y="4594862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25512" y="4777743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5512" y="5116071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CTC / WER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0" y="4896615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74936" y="4594862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866376" y="4777743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66376" y="5116071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Synthesized audio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87569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FFFFFF"/>
                </a:solidFill>
                <a:latin typeface="Aptos"/>
              </a:defRPr>
            </a:pPr>
            <a:r>
              <a:t>36.49-second English sample  |  Wav2Vec2 + Whisper  |  TTS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144768"/>
            <a:ext cx="82296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D8E8F1"/>
                </a:solidFill>
                <a:latin typeface="Aptos"/>
              </a:defRPr>
            </a:pPr>
            <a:r>
              <a:t>Educational demonstration - not a clinical assessment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47104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D8E8F1"/>
                </a:solidFill>
                <a:latin typeface="Aptos"/>
              </a:defRPr>
            </a:pPr>
            <a: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The project in one minute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A complete speech-to-text-to-speech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02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002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Speech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MP3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4328" y="190195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35224" y="16002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26664" y="178308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212140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Waveform + Mel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65192" y="190195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76088" y="16002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67528" y="178308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ASR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7528" y="212140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2 alternatives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06056" y="190195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16952" y="16002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08392" y="178308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8392" y="212140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CTC / 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190195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57816" y="160020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49256" y="178308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49256" y="212140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Synthesized audio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24612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0080" y="3355848"/>
            <a:ext cx="64008" cy="142646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1247" y="3392424"/>
            <a:ext cx="22677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Analyze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7" y="3849624"/>
            <a:ext cx="2267712" cy="9326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Inspect amplitude and frequency structure.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20439" y="324612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520439" y="3355848"/>
            <a:ext cx="64008" cy="142646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721607" y="3392424"/>
            <a:ext cx="22677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Recognize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21607" y="3849624"/>
            <a:ext cx="2267712" cy="9326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Compare CTC-based Wav2Vec2 with Whisper.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324612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00800" y="3355848"/>
            <a:ext cx="64008" cy="142646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01968" y="3392424"/>
            <a:ext cx="22677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3849624"/>
            <a:ext cx="2267712" cy="9326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Compute edit counts and word error rate.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81159" y="324612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281159" y="3355848"/>
            <a:ext cx="64008" cy="1426464"/>
          </a:xfrm>
          <a:prstGeom prst="rect">
            <a:avLst/>
          </a:prstGeom>
          <a:solidFill>
            <a:srgbClr val="E9786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482328" y="3392424"/>
            <a:ext cx="22677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Synthesize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82328" y="3849624"/>
            <a:ext cx="2267712" cy="9326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Speak the selected transcript back as audio.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5303520"/>
            <a:ext cx="1078992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Key result: the current run reports 18.52% WER for Wav2Vec2 and 1.23% for Whisper - but the reference is provisional and biased toward Whisper.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Input recording and experiment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What was analyzed - and what the numbers represent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03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527048"/>
            <a:ext cx="64008" cy="115214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7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Recording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20824"/>
            <a:ext cx="2999232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audio/new_stutter.mp3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37.64 seconds | 44,100 Hz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17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1527048"/>
            <a:ext cx="64008" cy="115214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0288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Processing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020824"/>
            <a:ext cx="2999232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Mono analysis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Wav2Vec2 resampled to 16 kHz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4173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1527048"/>
            <a:ext cx="64008" cy="115214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39328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2020824"/>
            <a:ext cx="2999232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One English speech sample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Educational pipeline demonstration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337560"/>
            <a:ext cx="1069848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Research question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94760"/>
            <a:ext cx="10241280" cy="7772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200" b="1">
                <a:solidFill>
                  <a:srgbClr val="142B45"/>
                </a:solidFill>
                <a:latin typeface="Aptos"/>
              </a:defRPr>
            </a:pPr>
            <a:r>
              <a:t>How do two popular ASR approaches transcribe the same disfluent speech sample, and how can their word-level differences be measured?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010912"/>
            <a:ext cx="10698480" cy="82296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solidFill>
              <a:srgbClr val="D6A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5166360"/>
            <a:ext cx="10332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This single-sample exercise cannot diagnose a speaker or generalize model accuracy. WER depends on a verified reference transcript.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1 | Inspect the waveform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Amplitude and pauses over the recording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04 / 15</a:t>
            </a:r>
          </a:p>
        </p:txBody>
      </p:sp>
      <p:pic>
        <p:nvPicPr>
          <p:cNvPr id="8" name="Picture 7" descr="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545410"/>
            <a:ext cx="10698480" cy="37671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650992"/>
            <a:ext cx="1060704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Waveform is useful for locating activity and pauses. It does not reveal the words or diagnose a fluency disorder by itself.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2 | Transform audio into log-Mel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Short-time spectral energy represented on a perceptual frequency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05 / 15</a:t>
            </a:r>
          </a:p>
        </p:txBody>
      </p:sp>
      <p:pic>
        <p:nvPicPr>
          <p:cNvPr id="8" name="Picture 7" descr="log_mel_spect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524" y="1298448"/>
            <a:ext cx="8614470" cy="397763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" y="5349240"/>
            <a:ext cx="3337560" cy="7315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" y="5458968"/>
            <a:ext cx="64008" cy="51206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8" y="5495544"/>
            <a:ext cx="29535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Mel bands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5952744"/>
            <a:ext cx="2953512" cy="182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213449"/>
                </a:solidFill>
                <a:latin typeface="Aptos"/>
              </a:defRPr>
            </a:pPr>
            <a:r>
              <a:t>128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5349240"/>
            <a:ext cx="3337560" cy="7315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34840" y="5458968"/>
            <a:ext cx="64008" cy="51206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36007" y="5495544"/>
            <a:ext cx="29535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FFT / 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5952744"/>
            <a:ext cx="2953512" cy="182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213449"/>
                </a:solidFill>
                <a:latin typeface="Aptos"/>
              </a:defRPr>
            </a:pPr>
            <a:r>
              <a:t>2048 / 512 samples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5349240"/>
            <a:ext cx="3337560" cy="7315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6720" y="5458968"/>
            <a:ext cx="64008" cy="51206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47888" y="5495544"/>
            <a:ext cx="29535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5952744"/>
            <a:ext cx="2953512" cy="182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213449"/>
                </a:solidFill>
                <a:latin typeface="Aptos"/>
              </a:defRPr>
            </a:pPr>
            <a:r>
              <a:t>Power converted to 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3 | Two ASR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Parallel alternatives; not a single serial recognizer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06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2926080"/>
            <a:ext cx="14173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Speech</a:t>
            </a:r>
          </a:p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MP3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150876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91840" y="1719072"/>
            <a:ext cx="269748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Wav2Vec2 encoder</a:t>
            </a:r>
          </a:p>
          <a:p>
            <a:pPr algn="ctr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waveform -&gt; character logits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508760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solidFill>
              <a:srgbClr val="F2B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1719072"/>
            <a:ext cx="178308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CTC collapse</a:t>
            </a:r>
          </a:p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repeat + blank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384048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91840" y="4050791"/>
            <a:ext cx="269748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Whisper encoder</a:t>
            </a:r>
          </a:p>
          <a:p>
            <a:pPr algn="ctr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log-Mel audio features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840480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29400" y="4050791"/>
            <a:ext cx="178308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Text decoder</a:t>
            </a:r>
          </a:p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autoregressive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74320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18320" y="2944368"/>
            <a:ext cx="1828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Text -&gt; WER -&gt; TTS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286000" y="2084831"/>
            <a:ext cx="868680" cy="978409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286000" y="3246120"/>
            <a:ext cx="868680" cy="1143000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26480" y="2084831"/>
            <a:ext cx="365760" cy="0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549640" y="2084831"/>
            <a:ext cx="731520" cy="886969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26480" y="4389120"/>
            <a:ext cx="365760" cy="0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8549640" y="3429000"/>
            <a:ext cx="731520" cy="960120"/>
          </a:xfrm>
          <a:prstGeom prst="line">
            <a:avLst/>
          </a:prstGeom>
          <a:ln w="25400">
            <a:solidFill>
              <a:srgbClr val="287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49808" y="5486400"/>
            <a:ext cx="1060704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E97868"/>
                </a:solidFill>
                <a:latin typeface="Aptos"/>
              </a:defRPr>
            </a:pPr>
            <a:r>
              <a:t>Important: Whisper is not a CTC model. The Wav2Vec2 branch is the one decoded with CTC.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4 | Wav2Vec2 with CTC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facebook/wav2vec2-base-960h - greedy token decoding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07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17320"/>
            <a:ext cx="3291840" cy="132588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527048"/>
            <a:ext cx="64008" cy="110642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563624"/>
            <a:ext cx="290779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20824"/>
            <a:ext cx="2907792" cy="61264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Mono waveform resampled to 16 kHz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417320"/>
            <a:ext cx="3291840" cy="132588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1527048"/>
            <a:ext cx="64008" cy="110642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7" y="1563624"/>
            <a:ext cx="290779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Acoustic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2020824"/>
            <a:ext cx="2907792" cy="61264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Convolutional features + Transformer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417320"/>
            <a:ext cx="3291840" cy="132588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1527048"/>
            <a:ext cx="64008" cy="110642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39328" y="1563624"/>
            <a:ext cx="290779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Decoder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2020824"/>
            <a:ext cx="2907792" cy="61264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Frame-wise argmax + CTC batch decode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200400"/>
            <a:ext cx="10698480" cy="192024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3310128"/>
            <a:ext cx="64008" cy="170078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2688" y="3346704"/>
            <a:ext cx="103144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Transcript excerpt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803904"/>
            <a:ext cx="10314432" cy="12070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YE THANK YOU FOR GIVING ME THIS OPERA OPPORTUNITY I  WANT TO TALK ABOUT MY DAILY LIFE AND THE CACHALLENGES I FACE WHILE SIP SPEAKING SOMETIMES I KNOW WHAT I WANT TO TSAY BUT THE WORDS GETS DISTUCK AND I CAN'T CONTINUE EASILY IT'S FAR FROM STRATING WHEN I TRY TO EX EXPLAIN SOMETHING BUT I KEEP SHE TRYING TO GET THE WORDS OUT I I TAKE A DEE...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94960"/>
            <a:ext cx="1069848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57789"/>
                </a:solidFill>
                <a:latin typeface="Aptos"/>
              </a:defRPr>
            </a:pPr>
            <a:r>
              <a:t>Observed transcription contains substitutions and extra tokens; confirm errors against audio rather than assuming the reference is correct.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5 | CTC: align without frame-level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Collapse adjacent repeats first, then remove blank tokens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08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417320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508760"/>
            <a:ext cx="228600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42B45"/>
                </a:solidFill>
                <a:latin typeface="Aptos"/>
              </a:defRPr>
            </a:pPr>
            <a:r>
              <a:t>Frame predictions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527048"/>
            <a:ext cx="7498079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13449"/>
                </a:solidFill>
                <a:latin typeface="Consolas"/>
              </a:defRPr>
            </a:pPr>
            <a:r>
              <a:t>blank | A | A | blank | A | B | B | blank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377440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78992" y="2468880"/>
            <a:ext cx="228600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42B45"/>
                </a:solidFill>
                <a:latin typeface="Aptos"/>
              </a:defRPr>
            </a:pPr>
            <a:r>
              <a:t>Merge adjacent repeats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487168"/>
            <a:ext cx="7498079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13449"/>
                </a:solidFill>
                <a:latin typeface="Consolas"/>
              </a:defRPr>
            </a:pPr>
            <a:r>
              <a:t>blank | A | blank | A | B | blank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337560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429000"/>
            <a:ext cx="228600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42B45"/>
                </a:solidFill>
                <a:latin typeface="Aptos"/>
              </a:defRPr>
            </a:pPr>
            <a:r>
              <a:t>Remove blanks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3447288"/>
            <a:ext cx="7498079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13449"/>
                </a:solidFill>
                <a:latin typeface="Consolas"/>
              </a:defRPr>
            </a:pPr>
            <a:r>
              <a:t>A | A | 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297680"/>
            <a:ext cx="10424160" cy="713232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8992" y="4389120"/>
            <a:ext cx="228600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142B45"/>
                </a:solidFill>
                <a:latin typeface="Aptos"/>
              </a:defRPr>
            </a:pPr>
            <a:r>
              <a:t>Decoded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4407408"/>
            <a:ext cx="7498079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213449"/>
                </a:solidFill>
                <a:latin typeface="Consolas"/>
              </a:defRPr>
            </a:pPr>
            <a:r>
              <a:t>AAB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532120"/>
            <a:ext cx="10424160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A, blank, A -&gt; AA; adjacent A, A -&gt; A. The blank preserves repeated letters when separated.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6 | Whisper-base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Encoder-decoder ASR with autoregressive text token generation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09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1527048"/>
            <a:ext cx="64008" cy="101498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8" y="1563624"/>
            <a:ext cx="28620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Audio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020824"/>
            <a:ext cx="2862072" cy="5212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Whisper extracts log-Mel features internally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41732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80560" y="1527048"/>
            <a:ext cx="64008" cy="101498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81728" y="1563624"/>
            <a:ext cx="28620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020824"/>
            <a:ext cx="2862072" cy="5212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faster-whisper base; CPU int8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17320"/>
            <a:ext cx="3246120" cy="123444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1527048"/>
            <a:ext cx="64008" cy="101498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5048" y="1563624"/>
            <a:ext cx="28620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Decoding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2020824"/>
            <a:ext cx="2862072" cy="5212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English hint; beam size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063240"/>
            <a:ext cx="10652760" cy="21031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3172968"/>
            <a:ext cx="64008" cy="1883663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8408" y="3209544"/>
            <a:ext cx="1026871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Transcript excerpt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3666744"/>
            <a:ext cx="10268712" cy="138988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213449"/>
                </a:solidFill>
                <a:latin typeface="Aptos"/>
              </a:defRPr>
            </a:pPr>
            <a:r>
              <a:t>Yeah, thank you for giving me this opportunity. I want to talk about my daily life and the challenges I face while speaking sometimes. I know what I want to say, but the words get stuck and I can't continue easily. It's far frustrating when I try to explain something but I keep trying to get the words out. I take a deep breath, pause for a moment and start again with poor practice and pa...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394960"/>
            <a:ext cx="1042416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57789"/>
                </a:solidFill>
                <a:latin typeface="Aptos"/>
              </a:defRPr>
            </a:pPr>
            <a:r>
              <a:t>Fluent wording is not proof of verbatim transcription. The recognizer may normalize or omit disfluencies.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7 | Evaluation with word error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Word-level edit distance relative to a reference transcript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10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17320"/>
            <a:ext cx="10561320" cy="96012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1618488"/>
            <a:ext cx="987552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2300" b="1">
                <a:solidFill>
                  <a:srgbClr val="142B45"/>
                </a:solidFill>
                <a:latin typeface="Aptos"/>
              </a:defRPr>
            </a:pPr>
            <a:r>
              <a:t>WER = (Substitutions + Deletions + Insertions) / Reference words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971800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68680" y="3081528"/>
            <a:ext cx="64008" cy="96926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9848" y="3118104"/>
            <a:ext cx="20848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Reference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3575304"/>
            <a:ext cx="2084832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81 words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2971800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703320" y="3081528"/>
            <a:ext cx="64008" cy="96926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04487" y="3118104"/>
            <a:ext cx="20848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Normalize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04487" y="3575304"/>
            <a:ext cx="2084832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case / punctuation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971800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37960" y="3081528"/>
            <a:ext cx="64008" cy="96926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39128" y="3118104"/>
            <a:ext cx="20848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Align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3575304"/>
            <a:ext cx="2084832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JiWER operations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72600" y="2971800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372600" y="3081528"/>
            <a:ext cx="64008" cy="969264"/>
          </a:xfrm>
          <a:prstGeom prst="rect">
            <a:avLst/>
          </a:prstGeom>
          <a:solidFill>
            <a:srgbClr val="E9786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73768" y="3118104"/>
            <a:ext cx="20848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73768" y="3575304"/>
            <a:ext cx="2084832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S, D, 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709160"/>
            <a:ext cx="10561320" cy="86868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solidFill>
              <a:srgbClr val="D6A9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1014984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213449"/>
                </a:solidFill>
                <a:latin typeface="Aptos"/>
              </a:defRPr>
            </a:pPr>
            <a:r>
              <a:t>WER is meaningful only if the reference is independently verified and transcription conventions are consistent.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8 | Results on the current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One sample; current reference transcript is provisional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11 / 15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783080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21024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483864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20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321808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184648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40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22592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85431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60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23376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586216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80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424160" y="2487168"/>
            <a:ext cx="0" cy="1536192"/>
          </a:xfrm>
          <a:prstGeom prst="line">
            <a:avLst/>
          </a:prstGeom>
          <a:ln>
            <a:solidFill>
              <a:srgbClr val="D9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87000" y="4041648"/>
            <a:ext cx="274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697479"/>
            <a:ext cx="12344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13449"/>
                </a:solidFill>
                <a:latin typeface="Aptos"/>
              </a:defRPr>
            </a:pPr>
            <a:r>
              <a:t>Wav2Vec2 CTC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0240" y="2679191"/>
            <a:ext cx="1574800" cy="365760"/>
          </a:xfrm>
          <a:prstGeom prst="roundRect">
            <a:avLst>
              <a:gd name="adj" fmla="val 8000"/>
            </a:avLst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04768" y="2724911"/>
            <a:ext cx="1097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142B45"/>
                </a:solidFill>
                <a:latin typeface="Aptos"/>
              </a:defRPr>
            </a:pPr>
            <a:r>
              <a:t>18.52%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355848"/>
            <a:ext cx="12344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213449"/>
                </a:solidFill>
                <a:latin typeface="Aptos"/>
              </a:defRPr>
            </a:pPr>
            <a:r>
              <a:t>Whisper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20240" y="3337560"/>
            <a:ext cx="104986" cy="365760"/>
          </a:xfrm>
          <a:prstGeom prst="roundRect">
            <a:avLst>
              <a:gd name="adj" fmla="val 8000"/>
            </a:avLst>
          </a:prstGeom>
          <a:solidFill>
            <a:srgbClr val="E9786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134954" y="3383279"/>
            <a:ext cx="1097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142B45"/>
                </a:solidFill>
                <a:latin typeface="Aptos"/>
              </a:defRPr>
            </a:pPr>
            <a:r>
              <a:t>1.23%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297679"/>
            <a:ext cx="850392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WER (%) - lower is better only when the reference is trustworthy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731520" y="4709160"/>
          <a:ext cx="1069847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3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Model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Hits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Sub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Del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Ins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Words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WER</a:t>
                      </a:r>
                    </a:p>
                  </a:txBody>
                  <a:tcPr marL="54864" marR="36576" marT="36576" marB="27432">
                    <a:solidFill>
                      <a:srgbClr val="14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Wav2Vec2 CTC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74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8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81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18.52%</a:t>
                      </a:r>
                    </a:p>
                  </a:txBody>
                  <a:tcPr marL="54864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Whisper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81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81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13449"/>
                          </a:solidFill>
                          <a:latin typeface="Aptos"/>
                        </a:defRPr>
                      </a:pPr>
                      <a:r>
                        <a:t>1.23%</a:t>
                      </a:r>
                    </a:p>
                  </a:txBody>
                  <a:tcPr marL="54864" marR="36576" marT="36576" marB="27432">
                    <a:solidFill>
                      <a:srgbClr val="EE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9 | Critical evaluation caveat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The current comparison favors the model that shaped the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12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17320"/>
            <a:ext cx="5212080" cy="14173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527048"/>
            <a:ext cx="64008" cy="1197864"/>
          </a:xfrm>
          <a:prstGeom prst="rect">
            <a:avLst/>
          </a:prstGeom>
          <a:solidFill>
            <a:srgbClr val="F2B84B"/>
          </a:solidFill>
          <a:ln>
            <a:solidFill>
              <a:srgbClr val="F2B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563624"/>
            <a:ext cx="48280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Current reference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20824"/>
            <a:ext cx="4828032" cy="704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81 words; not independently verified against the recording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212080" cy="14173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1527048"/>
            <a:ext cx="64008" cy="1197864"/>
          </a:xfrm>
          <a:prstGeom prst="rect">
            <a:avLst/>
          </a:prstGeom>
          <a:solidFill>
            <a:srgbClr val="E9786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19088" y="1563624"/>
            <a:ext cx="48280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Whisper hypothesis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20824"/>
            <a:ext cx="4828032" cy="704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Closely follows the provisional reference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246120"/>
            <a:ext cx="1042416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2400" b="1">
                <a:solidFill>
                  <a:srgbClr val="E97868"/>
                </a:solidFill>
                <a:latin typeface="Aptos"/>
              </a:defRPr>
            </a:pPr>
            <a:r>
              <a:t>Therefore, 1.23% is not a fair accuracy benchmark.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005072"/>
            <a:ext cx="10149840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800" b="0">
                <a:solidFill>
                  <a:srgbClr val="142B45"/>
                </a:solidFill>
                <a:latin typeface="Aptos"/>
              </a:defRPr>
            </a:pPr>
            <a:r>
              <a:t>Listen to the source audio, prepare a verbatim transcript independently, define a consistent policy for repetitions and fillers, review uncertain spans, then rerun both WER calculations.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23560"/>
            <a:ext cx="1042416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657789"/>
                </a:solidFill>
                <a:latin typeface="Aptos"/>
              </a:defRPr>
            </a:pPr>
            <a:r>
              <a:t>These results describe one example only; do not infer general model superiority.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10 | Text-to-speech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Convert a recognized transcript back into an audio signal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13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73736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Whisper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5856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recognized words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4328" y="203911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35224" y="173736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26664" y="192024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TTS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225856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Windows SAPI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65192" y="203911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76088" y="173736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67528" y="192024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WAV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7528" y="225856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PCM audio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06056" y="203911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16952" y="173736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AF6F2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08392" y="192024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Listen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8392" y="225856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quality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039112"/>
            <a:ext cx="310896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57816" y="1737360"/>
            <a:ext cx="2029968" cy="91440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49256" y="1920240"/>
            <a:ext cx="184708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42B45"/>
                </a:solidFill>
                <a:latin typeface="Aptos"/>
              </a:defRPr>
            </a:pPr>
            <a:r>
              <a:t>Caution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49256" y="2258568"/>
            <a:ext cx="1847088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900" b="0">
                <a:solidFill>
                  <a:srgbClr val="657789"/>
                </a:solidFill>
                <a:latin typeface="Aptos"/>
              </a:defRPr>
            </a:pPr>
            <a:r>
              <a:t>synthetic voice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3246120"/>
            <a:ext cx="5029200" cy="150876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2960" y="3355848"/>
            <a:ext cx="64008" cy="128930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24128" y="3392424"/>
            <a:ext cx="464515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Generated artifact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3849624"/>
            <a:ext cx="4645152" cy="79552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outputs/tts_output.wav</a:t>
            </a:r>
          </a:p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28.7 seconds | 22,050 Hz | mono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3246120"/>
            <a:ext cx="5029200" cy="150876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63640" y="3355848"/>
            <a:ext cx="64008" cy="128930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64807" y="3392424"/>
            <a:ext cx="464515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4807" y="3849624"/>
            <a:ext cx="4645152" cy="79552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213449"/>
                </a:solidFill>
                <a:latin typeface="Aptos"/>
              </a:defRPr>
            </a:pPr>
            <a:r>
              <a:t>Synthetic speech of the transcript; it does not recreate the original speaker or their disfluencies.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303520"/>
            <a:ext cx="104241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57789"/>
                </a:solidFill>
                <a:latin typeface="Aptos"/>
              </a:defRPr>
            </a:pPr>
            <a:r>
              <a:t>The notebook includes an optional gTTS alternative; it requires an internet connection.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11 | Reproducible run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Repository scripts and generated artifacts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14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25880"/>
            <a:ext cx="5212080" cy="4389120"/>
          </a:xfrm>
          <a:prstGeom prst="roundRect">
            <a:avLst>
              <a:gd name="adj" fmla="val 8000"/>
            </a:avLst>
          </a:prstGeom>
          <a:solidFill>
            <a:srgbClr val="142B45"/>
          </a:solidFill>
          <a:ln>
            <a:solidFill>
              <a:srgbClr val="142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627632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Set-Location "D:\stutter project 191"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39696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$py = ".\.venv\Scripts\python.exe"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51760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&amp; $py main.py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63824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&amp; $py asr.py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75888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&amp; $py whisper_asr.py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87952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&amp; $py wer.py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00016"/>
            <a:ext cx="47548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D8E8F1"/>
                </a:solidFill>
                <a:latin typeface="Consolas"/>
              </a:defRPr>
            </a:pPr>
            <a:r>
              <a:t>.\tts.ps1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325880"/>
            <a:ext cx="5074920" cy="128016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1435607"/>
            <a:ext cx="64008" cy="106070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528" y="1472184"/>
            <a:ext cx="46908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Scripts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1929384"/>
            <a:ext cx="4690872" cy="56692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main.py | asr.py | whisper_asr.py | wer.py | tts.ps1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834640"/>
            <a:ext cx="5074920" cy="128016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09360" y="2944368"/>
            <a:ext cx="64008" cy="1060704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0528" y="2980944"/>
            <a:ext cx="46908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Artifacts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3438144"/>
            <a:ext cx="4690872" cy="56692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Waveform, log-Mel image, transcripts, WER CSV, synthesized WAV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343400"/>
            <a:ext cx="5074920" cy="128016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09360" y="4453128"/>
            <a:ext cx="64008" cy="106070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10528" y="4489704"/>
            <a:ext cx="469087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Reproducibility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4946904"/>
            <a:ext cx="4690872" cy="56692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213449"/>
                </a:solidFill>
                <a:latin typeface="Aptos"/>
              </a:defRPr>
            </a:pPr>
            <a:r>
              <a:t>Use same audio and a human-verified reference; record model versions and settings.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B8C5"/>
          </a:solidFill>
          <a:ln>
            <a:solidFill>
              <a:srgbClr val="4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283464"/>
            <a:ext cx="1078992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2500" b="1">
                <a:solidFill>
                  <a:srgbClr val="142B45"/>
                </a:solidFill>
                <a:latin typeface="Aptos"/>
              </a:defRPr>
            </a:pPr>
            <a:r>
              <a:t>Takeaways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804672"/>
            <a:ext cx="109728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A useful pipeline demonstration - with evaluation caveats made explicit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28816"/>
            <a:ext cx="11109960" cy="10972"/>
          </a:xfrm>
          <a:prstGeom prst="rect">
            <a:avLst/>
          </a:prstGeom>
          <a:solidFill>
            <a:srgbClr val="D9E4EA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6583680"/>
            <a:ext cx="8961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750" b="0">
                <a:solidFill>
                  <a:srgbClr val="657789"/>
                </a:solidFill>
                <a:latin typeface="Aptos"/>
              </a:defRPr>
            </a:pPr>
            <a:r>
              <a:t>STUTTER SPEECH ASR + TTS | Educational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65392"/>
            <a:ext cx="731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Aft>
                <a:spcPts val="500"/>
              </a:spcAft>
              <a:defRPr sz="800" b="0">
                <a:solidFill>
                  <a:srgbClr val="657789"/>
                </a:solidFill>
                <a:latin typeface="Aptos"/>
              </a:defRPr>
            </a:pPr>
            <a:r>
              <a:t>15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17320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527048"/>
            <a:ext cx="64008" cy="1197864"/>
          </a:xfrm>
          <a:prstGeom prst="rect">
            <a:avLst/>
          </a:prstGeom>
          <a:solidFill>
            <a:srgbClr val="2878A5"/>
          </a:solidFill>
          <a:ln>
            <a:solidFill>
              <a:srgbClr val="28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What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20824"/>
            <a:ext cx="2999232" cy="704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Feature plots, two ASR paths, CTC explanation, WER, and TTS.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17320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1527048"/>
            <a:ext cx="64008" cy="1197864"/>
          </a:xfrm>
          <a:prstGeom prst="rect">
            <a:avLst/>
          </a:prstGeom>
          <a:solidFill>
            <a:srgbClr val="E97868"/>
          </a:solidFill>
          <a:ln>
            <a:solidFill>
              <a:srgbClr val="E978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0288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What needs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020824"/>
            <a:ext cx="2999232" cy="704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Reference transcript and the resulting accuracy comparison.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417320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EEF5F8"/>
          </a:solidFill>
          <a:ln>
            <a:solidFill>
              <a:srgbClr val="D9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46720" y="1527048"/>
            <a:ext cx="64008" cy="1197864"/>
          </a:xfrm>
          <a:prstGeom prst="rect">
            <a:avLst/>
          </a:prstGeom>
          <a:solidFill>
            <a:srgbClr val="79C8AE"/>
          </a:solidFill>
          <a:ln>
            <a:solidFill>
              <a:srgbClr val="79C8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47888" y="1563624"/>
            <a:ext cx="299923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142B45"/>
                </a:solidFill>
                <a:latin typeface="Aptos"/>
              </a:defRPr>
            </a:pPr>
            <a:r>
              <a:t>What comes 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2020824"/>
            <a:ext cx="2999232" cy="704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213449"/>
                </a:solidFill>
                <a:latin typeface="Aptos"/>
              </a:defRPr>
            </a:pPr>
            <a:r>
              <a:t>Independent transcript review and broader recordings.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383280"/>
            <a:ext cx="1024128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2878A5"/>
                </a:solidFill>
                <a:latin typeface="Aptos"/>
              </a:defRPr>
            </a:pPr>
            <a:r>
              <a:t>Bottom 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886200"/>
            <a:ext cx="996696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2200" b="1">
                <a:solidFill>
                  <a:srgbClr val="142B45"/>
                </a:solidFill>
                <a:latin typeface="Aptos"/>
              </a:defRPr>
            </a:pPr>
            <a:r>
              <a:t>A complete speech pipeline is demonstrated. Reliable ASR conclusions require an independent, carefully annotated reference and evaluation beyond one sample.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996696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657789"/>
                </a:solidFill>
                <a:latin typeface="Aptos"/>
              </a:defRPr>
            </a:pPr>
            <a:r>
              <a:t>Selected reading: Graves et al. (2006), CTC; Baevski et al. (2020), wav2vec 2.0; Radford et al. (2023), Whisper.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1381</Words>
  <Application>Microsoft Office PowerPoint</Application>
  <PresentationFormat>Widescreen</PresentationFormat>
  <Paragraphs>254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Voice to Text and Back: ASR, CTC, WER and TTS</dc:title>
  <dc:subject>Professional project presentation</dc:subject>
  <dc:creator>Stutter Speech ASR and TTS project</dc:creator>
  <cp:keywords/>
  <dc:description>generated using python-pptx</dc:description>
  <cp:lastModifiedBy>Arijit Das</cp:lastModifiedBy>
  <cp:revision>3</cp:revision>
  <dcterms:created xsi:type="dcterms:W3CDTF">2013-01-27T09:14:16Z</dcterms:created>
  <dcterms:modified xsi:type="dcterms:W3CDTF">2026-10-13T13:17:13Z</dcterms:modified>
  <cp:category/>
</cp:coreProperties>
</file>